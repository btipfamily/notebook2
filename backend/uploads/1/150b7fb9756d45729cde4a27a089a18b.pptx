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114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8229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Automation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274320" y="17373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274320" y="2560320"/>
            <a:ext cx="32004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697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Automation-First · Tested &amp; Approved · Automated Backout with Post-Validation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337560"/>
            <a:ext cx="1600200" cy="640080"/>
          </a:xfrm>
          <a:prstGeom prst="rect">
            <a:avLst/>
          </a:prstGeom>
          <a:solidFill>
            <a:srgbClr val="0EA5E9">
              <a:alpha val="18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337560"/>
            <a:ext cx="54864" cy="640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36499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029968" y="3337560"/>
            <a:ext cx="1600200" cy="640080"/>
          </a:xfrm>
          <a:prstGeom prst="rect">
            <a:avLst/>
          </a:prstGeom>
          <a:solidFill>
            <a:srgbClr val="06B6D4">
              <a:alpha val="1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29968" y="3337560"/>
            <a:ext cx="54864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39696" y="336499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785616" y="3337560"/>
            <a:ext cx="1600200" cy="640080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85616" y="3337560"/>
            <a:ext cx="54864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95344" y="336499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&amp;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41264" y="3337560"/>
            <a:ext cx="1600200" cy="640080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41264" y="3337560"/>
            <a:ext cx="54864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50992" y="336499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Ops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296912" y="3337560"/>
            <a:ext cx="1600200" cy="640080"/>
          </a:xfrm>
          <a:prstGeom prst="rect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96912" y="3337560"/>
            <a:ext cx="54864" cy="640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0" y="336499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Resiliency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Safety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Enterprise Standards Document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01168" y="47548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Pillars of Enterprise Automation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777240"/>
            <a:ext cx="2926080" cy="4114800"/>
          </a:xfrm>
          <a:prstGeom prst="rect">
            <a:avLst/>
          </a:prstGeom>
          <a:solidFill>
            <a:srgbClr val="1A3050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777240"/>
            <a:ext cx="292608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804672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AUTOMATION-FIRST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" y="1618488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517904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by default, not by exception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" y="2240280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139696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 automation in SDLC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" y="2862072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761488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only where required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9184" y="3483864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383280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runbook → automation pipeline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9184" y="4105656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4005072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automation catalog &amp; registry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64408" y="777240"/>
            <a:ext cx="2926080" cy="4114800"/>
          </a:xfrm>
          <a:prstGeom prst="rect">
            <a:avLst/>
          </a:prstGeom>
          <a:solidFill>
            <a:srgbClr val="1A3050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64408" y="777240"/>
            <a:ext cx="292608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74136" y="804672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&amp; APPROVED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92424" y="161848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38728" y="1517904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integration &amp; smoke test suites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92424" y="224028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38728" y="2139696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&amp; SME sign-off gate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92424" y="286207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38728" y="2761488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/ staging validation required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92424" y="348386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38728" y="3383280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compliance scanning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92424" y="4105656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38728" y="4005072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Advisory Board (CAB) approval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27648" y="777240"/>
            <a:ext cx="2926080" cy="4114800"/>
          </a:xfrm>
          <a:prstGeom prst="rect">
            <a:avLst/>
          </a:prstGeom>
          <a:solidFill>
            <a:srgbClr val="1A305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27648" y="777240"/>
            <a:ext cx="292608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37376" y="804672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BACKOUT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POST-VALIDATION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55664" y="161848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01968" y="1517904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automation has a backout plan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55664" y="224028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01968" y="2139696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Auto-trigger rollback on failure threshold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455664" y="286207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01968" y="2761488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Post-execution health checks &amp; KPIs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55664" y="348386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01968" y="3383280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 &amp; reconciliation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55664" y="410565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01968" y="4005072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auto-create on anomaly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127248" y="2834640"/>
            <a:ext cx="137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90488" y="2834640"/>
            <a:ext cx="137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Automation Standards  ·  Slide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STANDARDS FRAMEWORK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01168" y="47548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Domains of Enterprise Automation Standards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822960"/>
            <a:ext cx="2834640" cy="1920240"/>
          </a:xfrm>
          <a:prstGeom prst="rect">
            <a:avLst/>
          </a:prstGeom>
          <a:solidFill>
            <a:srgbClr val="1A3050"/>
          </a:solidFill>
          <a:ln w="15240">
            <a:solidFill>
              <a:srgbClr val="0EA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822960"/>
            <a:ext cx="2834640" cy="475488"/>
          </a:xfrm>
          <a:prstGeom prst="rect">
            <a:avLst/>
          </a:prstGeom>
          <a:solidFill>
            <a:srgbClr val="0EA5E9">
              <a:alpha val="80000"/>
            </a:srgbClr>
          </a:solidFill>
          <a:ln w="15240">
            <a:solidFill>
              <a:srgbClr val="0EA5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822960"/>
            <a:ext cx="54864" cy="1920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85953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10896" y="13441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Automation ROI &amp; SLA tracking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0896" y="16824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Risk tier classification (Low/Med/High/Critical)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0896" y="202082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MTTR, success rate, drift delta KPIs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0896" y="23591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Exec dashboards &amp; operational views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82112" y="822960"/>
            <a:ext cx="2834640" cy="1920240"/>
          </a:xfrm>
          <a:prstGeom prst="rect">
            <a:avLst/>
          </a:prstGeom>
          <a:solidFill>
            <a:srgbClr val="1A3050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82112" y="822960"/>
            <a:ext cx="2834640" cy="475488"/>
          </a:xfrm>
          <a:prstGeom prst="rect">
            <a:avLst/>
          </a:prstGeom>
          <a:solidFill>
            <a:srgbClr val="06B6D4">
              <a:alpha val="80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82112" y="822960"/>
            <a:ext cx="54864" cy="19202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85953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91840" y="13441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Centralized structured log aggregation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91840" y="16824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Secrets vault integration (no hardcoded creds)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202082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Audit trail per automation execution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91840" y="23591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Log retention &amp; PII masking policies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63056" y="822960"/>
            <a:ext cx="2834640" cy="1920240"/>
          </a:xfrm>
          <a:prstGeom prst="rect">
            <a:avLst/>
          </a:prstGeom>
          <a:solidFill>
            <a:srgbClr val="1A3050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63056" y="822960"/>
            <a:ext cx="2834640" cy="475488"/>
          </a:xfrm>
          <a:prstGeom prst="rect">
            <a:avLst/>
          </a:prstGeom>
          <a:solidFill>
            <a:srgbClr val="10B981">
              <a:alpha val="80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63056" y="822960"/>
            <a:ext cx="54864" cy="1920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72784" y="85953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&amp;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72784" y="13441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Git-flow with protected main branches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72784" y="16824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Static analysis, linting, coverage gates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72784" y="202082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Peer review mandatory before merge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72784" y="23591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Versioning &amp; changelog enforcement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01168" y="2880360"/>
            <a:ext cx="2834640" cy="1920240"/>
          </a:xfrm>
          <a:prstGeom prst="rect">
            <a:avLst/>
          </a:prstGeom>
          <a:solidFill>
            <a:srgbClr val="1A3050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1168" y="2880360"/>
            <a:ext cx="2834640" cy="475488"/>
          </a:xfrm>
          <a:prstGeom prst="rect">
            <a:avLst/>
          </a:prstGeom>
          <a:solidFill>
            <a:srgbClr val="F59E0B">
              <a:alpha val="80000"/>
            </a:srgbClr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1168" y="2880360"/>
            <a:ext cx="54864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" y="291693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DESIGN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OPERATIONS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10896" y="34015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Idempotent &amp; modular design patterns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0896" y="37398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Runbook-as-code with inline documentation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10896" y="407822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Scheduled, event-driven &amp; on-demand modes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10896" y="44165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Operational runbooks &amp; escalation paths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182112" y="2880360"/>
            <a:ext cx="2834640" cy="1920240"/>
          </a:xfrm>
          <a:prstGeom prst="rect">
            <a:avLst/>
          </a:prstGeom>
          <a:solidFill>
            <a:srgbClr val="1A3050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182112" y="2880360"/>
            <a:ext cx="2834640" cy="475488"/>
          </a:xfrm>
          <a:prstGeom prst="rect">
            <a:avLst/>
          </a:prstGeom>
          <a:solidFill>
            <a:srgbClr val="F97316">
              <a:alpha val="80000"/>
            </a:srgbClr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182112" y="2880360"/>
            <a:ext cx="54864" cy="1920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1840" y="291693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RESILIENCY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SAFETY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291840" y="34015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Circuit breaker &amp; retry with backoff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291840" y="37398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Blast radius limits &amp; guardrails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291840" y="407822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Dry-run mode before production execute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291840" y="44165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Immutable infrastructure principles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163056" y="2880360"/>
            <a:ext cx="2834640" cy="1920240"/>
          </a:xfrm>
          <a:prstGeom prst="rect">
            <a:avLst/>
          </a:prstGeom>
          <a:solidFill>
            <a:srgbClr val="1A3050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63056" y="2880360"/>
            <a:ext cx="2834640" cy="475488"/>
          </a:xfrm>
          <a:prstGeom prst="rect">
            <a:avLst/>
          </a:prstGeom>
          <a:solidFill>
            <a:srgbClr val="A78BFA">
              <a:alpha val="80000"/>
            </a:srgbClr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63056" y="2880360"/>
            <a:ext cx="54864" cy="19202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72784" y="291693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COMPLIANCE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272784" y="34015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ITSM/ITIL integration &amp; change records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72784" y="37398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RBAC &amp; least-privilege execution accounts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72784" y="407822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Regulatory &amp; audit compliance controls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72784" y="44165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Automation lifecycle &amp; deprecation process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Automation Standards  ·  Slide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LIFECYCLE PIPELINE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01168" y="47548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Flow: Ideation → Execution → Validation → Backout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16736" y="1490472"/>
            <a:ext cx="34747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27632" y="1444752"/>
            <a:ext cx="91440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051560"/>
            <a:ext cx="1115568" cy="914400"/>
          </a:xfrm>
          <a:prstGeom prst="rect">
            <a:avLst/>
          </a:prstGeom>
          <a:solidFill>
            <a:srgbClr val="1A3050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1051560"/>
            <a:ext cx="1115568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106984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6888" y="1353312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→ Code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Approval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79776" y="1490472"/>
            <a:ext cx="34747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90672" y="1444752"/>
            <a:ext cx="91440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64208" y="1051560"/>
            <a:ext cx="1115568" cy="914400"/>
          </a:xfrm>
          <a:prstGeom prst="rect">
            <a:avLst/>
          </a:prstGeom>
          <a:solidFill>
            <a:srgbClr val="1A3050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664208" y="1051560"/>
            <a:ext cx="1115568" cy="274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64208" y="106984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709928" y="1353312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· Integration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Validation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242816" y="1490472"/>
            <a:ext cx="34747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53712" y="1444752"/>
            <a:ext cx="91440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27248" y="1051560"/>
            <a:ext cx="1115568" cy="914400"/>
          </a:xfrm>
          <a:prstGeom prst="rect">
            <a:avLst/>
          </a:prstGeom>
          <a:solidFill>
            <a:srgbClr val="1A3050"/>
          </a:solidFill>
          <a:ln w="2540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27248" y="1051560"/>
            <a:ext cx="1115568" cy="2743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27248" y="106984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172968" y="1353312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 Sign-off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705856" y="1490472"/>
            <a:ext cx="34747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16752" y="1444752"/>
            <a:ext cx="91440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0288" y="1051560"/>
            <a:ext cx="1115568" cy="914400"/>
          </a:xfrm>
          <a:prstGeom prst="rect">
            <a:avLst/>
          </a:prstGeom>
          <a:solidFill>
            <a:srgbClr val="1A3050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90288" y="1051560"/>
            <a:ext cx="1115568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90288" y="106984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36008" y="1353312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Rollout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168896" y="1490472"/>
            <a:ext cx="34747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79792" y="1444752"/>
            <a:ext cx="91440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53328" y="1051560"/>
            <a:ext cx="1115568" cy="914400"/>
          </a:xfrm>
          <a:prstGeom prst="rect">
            <a:avLst/>
          </a:prstGeom>
          <a:solidFill>
            <a:srgbClr val="1A3050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53328" y="1051560"/>
            <a:ext cx="1115568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53328" y="106984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99048" y="1353312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Run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516368" y="1051560"/>
            <a:ext cx="1115568" cy="914400"/>
          </a:xfrm>
          <a:prstGeom prst="rect">
            <a:avLst/>
          </a:prstGeom>
          <a:solidFill>
            <a:srgbClr val="1A3050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516368" y="1051560"/>
            <a:ext cx="1115568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16368" y="106984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562088" y="1353312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Post-checks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7200" y="2212848"/>
            <a:ext cx="8229600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dashDot"/>
          </a:ln>
        </p:spPr>
      </p:sp>
      <p:sp>
        <p:nvSpPr>
          <p:cNvPr id="41" name="Text 39"/>
          <p:cNvSpPr/>
          <p:nvPr/>
        </p:nvSpPr>
        <p:spPr>
          <a:xfrm>
            <a:off x="1371600" y="22585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◄  AUTO-BACKOUT TRIGGERED ON FAILURE THRESHOLD  ◄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01168" y="2651760"/>
            <a:ext cx="2926080" cy="2103120"/>
          </a:xfrm>
          <a:prstGeom prst="rect">
            <a:avLst/>
          </a:prstGeom>
          <a:solidFill>
            <a:srgbClr val="132338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01168" y="2651760"/>
            <a:ext cx="2926080" cy="347472"/>
          </a:xfrm>
          <a:prstGeom prst="rect">
            <a:avLst/>
          </a:prstGeom>
          <a:solidFill>
            <a:srgbClr val="0EA5E9">
              <a:alpha val="7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01168" y="2651760"/>
            <a:ext cx="54864" cy="21031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2679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38328" y="307238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Code coverage ≥ 80%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38328" y="34747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critical/high CVEs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38328" y="387705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Lint + static analysis pass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38328" y="427939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Integration test green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64408" y="2651760"/>
            <a:ext cx="2926080" cy="2103120"/>
          </a:xfrm>
          <a:prstGeom prst="rect">
            <a:avLst/>
          </a:prstGeom>
          <a:solidFill>
            <a:srgbClr val="1323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64408" y="2651760"/>
            <a:ext cx="2926080" cy="347472"/>
          </a:xfrm>
          <a:prstGeom prst="rect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64408" y="2651760"/>
            <a:ext cx="54864" cy="2103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83280" y="2679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Controls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401568" y="307238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Blast radius guardrail active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401568" y="34747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Dry-run pre-check mandatory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401568" y="387705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Execution window enforcement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401568" y="427939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Approval token required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327648" y="2651760"/>
            <a:ext cx="2926080" cy="2103120"/>
          </a:xfrm>
          <a:prstGeom prst="rect">
            <a:avLst/>
          </a:prstGeom>
          <a:solidFill>
            <a:srgbClr val="132338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327648" y="2651760"/>
            <a:ext cx="2926080" cy="347472"/>
          </a:xfrm>
          <a:prstGeom prst="rect">
            <a:avLst/>
          </a:prstGeom>
          <a:solidFill>
            <a:srgbClr val="F97316">
              <a:alpha val="7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27648" y="2651760"/>
            <a:ext cx="54864" cy="2103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46520" y="2679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Post-Validation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464808" y="307238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Health check endpoints polled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464808" y="34747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SLA/KPI baseline compared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464808" y="387705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Drift delta threshold check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464808" y="427939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Incident auto-raised on fail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Automation Standards  ·  Slide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MODEL &amp; METRICS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01168" y="47548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Design, Resiliency, Safety &amp; Key Performance Indicators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822960"/>
            <a:ext cx="4206240" cy="3858768"/>
          </a:xfrm>
          <a:prstGeom prst="rect">
            <a:avLst/>
          </a:prstGeom>
          <a:solidFill>
            <a:srgbClr val="132338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822960"/>
            <a:ext cx="4206240" cy="402336"/>
          </a:xfrm>
          <a:prstGeom prst="rect">
            <a:avLst/>
          </a:prstGeom>
          <a:solidFill>
            <a:srgbClr val="F59E0B">
              <a:alpha val="80000"/>
            </a:srgbClr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822960"/>
            <a:ext cx="54864" cy="3858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5953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DESIGN &amp; OPERATIONS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" y="145389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30759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Idempotency: 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444752" y="130759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automation must produce same outcome on repeated runs without side effects.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9184" y="192938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7830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Modularity: 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444752" y="17830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automations into reusable, independently testable components.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9184" y="240487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2585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Observability: 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444752" y="225856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logging, distributed tracing, and metrics emitted by default.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9184" y="288036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73405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Modes: 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444752" y="273405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scheduled, event-driven, and on-demand execution patterns.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9184" y="335584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20954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Documentation: 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444752" y="320954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docstrings, README, and runbook-as-code mandatory for all automations.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9184" y="383133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68503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Mgmt: 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444752" y="368503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 ITSM tickets on execution failure with full context payload.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45152" y="822960"/>
            <a:ext cx="4297680" cy="1828800"/>
          </a:xfrm>
          <a:prstGeom prst="rect">
            <a:avLst/>
          </a:prstGeom>
          <a:solidFill>
            <a:srgbClr val="132338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45152" y="822960"/>
            <a:ext cx="4297680" cy="402336"/>
          </a:xfrm>
          <a:prstGeom prst="rect">
            <a:avLst/>
          </a:prstGeom>
          <a:solidFill>
            <a:srgbClr val="F97316">
              <a:alpha val="80000"/>
            </a:srgbClr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45152" y="822960"/>
            <a:ext cx="54864" cy="1828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64024" y="85953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RESILIENCY &amp; SAFETY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64024" y="129844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Circuit breaker pattern with configurable thresholds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64024" y="161848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Exponential backoff &amp; retry limits (max 3 attempts)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64024" y="193852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Dry-run mode validation before any prod execution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64024" y="225856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Role-based blast radius limits enforced at runtime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45152" y="2852928"/>
            <a:ext cx="1005840" cy="1737360"/>
          </a:xfrm>
          <a:prstGeom prst="rect">
            <a:avLst/>
          </a:prstGeom>
          <a:solidFill>
            <a:srgbClr val="1A305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45152" y="2852928"/>
            <a:ext cx="10058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45152" y="294436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99.5%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690872" y="354787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724144" y="2852928"/>
            <a:ext cx="1005840" cy="1737360"/>
          </a:xfrm>
          <a:prstGeom prst="rect">
            <a:avLst/>
          </a:prstGeom>
          <a:solidFill>
            <a:srgbClr val="1A3050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24144" y="2852928"/>
            <a:ext cx="100584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24144" y="294436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769864" y="354787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Detect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803136" y="2852928"/>
            <a:ext cx="1005840" cy="1737360"/>
          </a:xfrm>
          <a:prstGeom prst="rect">
            <a:avLst/>
          </a:prstGeom>
          <a:solidFill>
            <a:srgbClr val="1A305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03136" y="2852928"/>
            <a:ext cx="10058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03136" y="294436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15 min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6848856" y="354787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Auto-Backout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Target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882128" y="2852928"/>
            <a:ext cx="1005840" cy="1737360"/>
          </a:xfrm>
          <a:prstGeom prst="rect">
            <a:avLst/>
          </a:prstGeom>
          <a:solidFill>
            <a:srgbClr val="1A3050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882128" y="2852928"/>
            <a:ext cx="1005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82128" y="294436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7927848" y="354787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of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Automation Standards  ·  Slide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200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6400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Automation Standards</a:t>
            </a:r>
            <a:endParaRPr lang="en-US" sz="3800" dirty="0"/>
          </a:p>
        </p:txBody>
      </p:sp>
      <p:sp>
        <p:nvSpPr>
          <p:cNvPr id="13" name="Shape 11"/>
          <p:cNvSpPr/>
          <p:nvPr/>
        </p:nvSpPr>
        <p:spPr>
          <a:xfrm>
            <a:off x="274320" y="1527048"/>
            <a:ext cx="320040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664208"/>
            <a:ext cx="4114800" cy="822960"/>
          </a:xfrm>
          <a:prstGeom prst="rect">
            <a:avLst/>
          </a:prstGeom>
          <a:solidFill>
            <a:srgbClr val="1A305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664208"/>
            <a:ext cx="54864" cy="822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Automation-First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" y="1965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by default across all runbooks, change processes, and operations.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596896"/>
            <a:ext cx="4114800" cy="822960"/>
          </a:xfrm>
          <a:prstGeom prst="rect">
            <a:avLst/>
          </a:prstGeom>
          <a:solidFill>
            <a:srgbClr val="1A305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596896"/>
            <a:ext cx="54864" cy="822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2624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&amp; Approved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2336" y="28986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automations pass quality gates, peer review, and CAB before production.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529584"/>
            <a:ext cx="4114800" cy="822960"/>
          </a:xfrm>
          <a:prstGeom prst="rect">
            <a:avLst/>
          </a:prstGeom>
          <a:solidFill>
            <a:srgbClr val="1A305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529584"/>
            <a:ext cx="54864" cy="822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35570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Backout &amp; Validate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2336" y="383133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Backout plans required; auto-triggered on failure with post-validation checks.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1664208"/>
            <a:ext cx="4114800" cy="822960"/>
          </a:xfrm>
          <a:prstGeom prst="rect">
            <a:avLst/>
          </a:prstGeom>
          <a:solidFill>
            <a:srgbClr val="1A305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1664208"/>
            <a:ext cx="54864" cy="822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82896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Logging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82896" y="1965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telemetry, KPI dashboards, audit trails and secrets management.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596896"/>
            <a:ext cx="4114800" cy="822960"/>
          </a:xfrm>
          <a:prstGeom prst="rect">
            <a:avLst/>
          </a:prstGeom>
          <a:solidFill>
            <a:srgbClr val="1A305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2596896"/>
            <a:ext cx="54864" cy="822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82896" y="2624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&amp; Design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82896" y="28986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Git-flow, lint, coverage gates, idempotent and modular architecture standards.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529584"/>
            <a:ext cx="4114800" cy="822960"/>
          </a:xfrm>
          <a:prstGeom prst="rect">
            <a:avLst/>
          </a:prstGeom>
          <a:solidFill>
            <a:srgbClr val="1A305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3529584"/>
            <a:ext cx="54864" cy="822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82896" y="35570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Resiliency &amp; Governance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82896" y="383133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breakers, blast radius limits, RBAC, ITIL integration, and compliance.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Automation Standards  ·  Summary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Automation - High Level Architecture</dc:title>
  <dc:subject>PptxGenJS Presentation</dc:subject>
  <dc:creator>PptxGenJS</dc:creator>
  <cp:lastModifiedBy>PptxGenJS</cp:lastModifiedBy>
  <cp:revision>1</cp:revision>
  <dcterms:created xsi:type="dcterms:W3CDTF">2026-03-07T04:43:22Z</dcterms:created>
  <dcterms:modified xsi:type="dcterms:W3CDTF">2026-03-07T04:43:22Z</dcterms:modified>
</cp:coreProperties>
</file>