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update covers three outcomes: (1) automation standards as global guardrails, (2) the enablement plan to accelerate adoption across regions, and (3) a phased timeline moving from consistent reporting to sustainable enforcement. Goal: inform SLT on progress, align on what 'good' looks like globally, and confirm the near-term plan to scale safely without slowing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high-level readout designed for alignment and discussion, not a deep technical review. Three prompts: (1) Confirm standards direction—guardrails, not rigid prescriptions. (2) Confirm enablement plan and where leadership can help remove barriers. (3) Align on the reporting-to-enforcement roadmap. Will close with KPIs and what's in it for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progressed from distributed automation activity toward a global model. Standards are defined as guardrails. Enablement is transitioning from ad hoc to repeatable onboarding and starter kits. Reporting is being defined as a scorecard giving SLT visibility into adoption, reliability, reuse, and risk. Next step: establish baseline reporting, then introduce enforcement with exception-and-learning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define what 'good' looks like so automation is reliable, governable, and scalable. The key is consistency without rigidity—regions implement differently based on maturity, but outcomes remain consistent. Standards reduce operational surprises, increase reuse, and create an enterprise-quality baseline that teams can apply in real pipelines without slowing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approach is federated: global guardrails with regional execution. Standards apply through lightweight review touchpoints, not centralized approvals for every change. Deviations are expected; what matters is a documented exception process that captures learning. This prevents shadow automation while preserving delivery speed. Standards evolve through champion and practitioner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Enablement turns guardrails into adoption at scale. The plan centers on structured onboarding, starter kits, role-based workshops, and office hours co-run by the global COE and regional champions. Success measure is not training completion—it's time-to-first-successful-automation, reuse of approved patterns, and measurable reliability improvement. Enablement is also a two-way channel: regions contribute back patterns and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COE is accountable for the global operating model. The Community of Practice is the practitioner engine—shares what works, surfaces challenges, accelerates learning. Champions are the multipliers, the local face of strategy. To leverage champions: define clear expectations (enablement, not policing), allocate protected time, recognize them as a formal role. Success = adoption and improved outcomes, not enforcement gatekeeping.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is the bridge between intention and accountability. The scorecard rolls up adoption, reliability, reuse, and governance (risk). SLT uses it to steer: where to invest, where to remove barriers, where risk needs tighter controls. Scorecard also supports regional transparency—showing progress without forcing identical implementation. Reporting is the prerequisite to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Establish baseline standards, reporting scorecard, champion network, and CoP forum. Phase 2: Enablement kits and workshops, standards reviews at gates, formal exception process. Phase 3: Expand regional adoption, mature scorecard, introduce enforcement gates for high-risk automation. Enforcement becomes real only when reporting is stable and enablement is broadly available—making gates fair and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leadership, the benefit is control with speed: fewer incidents from automation failures, more predictable delivery, scalable reuse. KPIs: Adoption (teams onboarded, active pipelines using standards), Reliability (success rate, failure recurrence, incident trend), Reuse (pattern usage, duplication reduction), Governance (exceptions volume, audit readiness), Value (hours saved where credibly measured). Goal is directional visibility—not perfect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aligning on three things—standards as outcome-based guardrails, enablement as the adoption engine, and a phased roadmap that is fair and scalable. Near-term focus: baseline reporting and enabling regions with starter kits, workshops, and champion support. SLT can help by removing adoption barriers, supporting champion capacity, and reinforcing that this is an enterprise capability. Next updates will be scorecard-driven.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4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sp>
      <p:sp>
        <p:nvSpPr>
          <p:cNvPr id="3" name="Shape 1"/>
          <p:cNvSpPr/>
          <p:nvPr/>
        </p:nvSpPr>
        <p:spPr>
          <a:xfrm>
            <a:off x="5669280" y="-1097280"/>
            <a:ext cx="5029200" cy="5029200"/>
          </a:xfrm>
          <a:prstGeom prst="ellipse">
            <a:avLst/>
          </a:prstGeom>
          <a:solidFill>
            <a:srgbClr val="1E2761">
              <a:alpha val="60000"/>
            </a:srgbClr>
          </a:solidFill>
          <a:ln w="12700">
            <a:solidFill>
              <a:srgbClr val="028090">
                <a:alpha val="40000"/>
              </a:srgbClr>
            </a:solidFill>
            <a:prstDash val="solid"/>
          </a:ln>
        </p:spPr>
      </p:sp>
      <p:sp>
        <p:nvSpPr>
          <p:cNvPr id="4" name="Shape 2"/>
          <p:cNvSpPr/>
          <p:nvPr/>
        </p:nvSpPr>
        <p:spPr>
          <a:xfrm>
            <a:off x="6400800" y="-457200"/>
            <a:ext cx="3474720" cy="3474720"/>
          </a:xfrm>
          <a:prstGeom prst="ellipse">
            <a:avLst/>
          </a:prstGeom>
          <a:solidFill>
            <a:srgbClr val="028090">
              <a:alpha val="30000"/>
            </a:srgbClr>
          </a:solidFill>
          <a:ln w="12700">
            <a:solidFill>
              <a:srgbClr val="028090"/>
            </a:solidFill>
            <a:prstDash val="solid"/>
          </a:ln>
        </p:spPr>
      </p:sp>
      <p:sp>
        <p:nvSpPr>
          <p:cNvPr id="5" name="Shape 3"/>
          <p:cNvSpPr/>
          <p:nvPr/>
        </p:nvSpPr>
        <p:spPr>
          <a:xfrm>
            <a:off x="457200" y="914400"/>
            <a:ext cx="2286000" cy="292608"/>
          </a:xfrm>
          <a:prstGeom prst="rect">
            <a:avLst/>
          </a:prstGeom>
          <a:solidFill>
            <a:srgbClr val="028090"/>
          </a:solidFill>
          <a:ln w="12700">
            <a:solidFill>
              <a:srgbClr val="028090"/>
            </a:solidFill>
            <a:prstDash val="solid"/>
          </a:ln>
        </p:spPr>
      </p:sp>
      <p:sp>
        <p:nvSpPr>
          <p:cNvPr id="6" name="Text 4"/>
          <p:cNvSpPr/>
          <p:nvPr/>
        </p:nvSpPr>
        <p:spPr>
          <a:xfrm>
            <a:off x="457200" y="914400"/>
            <a:ext cx="2286000" cy="292608"/>
          </a:xfrm>
          <a:prstGeom prst="rect">
            <a:avLst/>
          </a:prstGeom>
          <a:noFill/>
          <a:ln/>
        </p:spPr>
        <p:txBody>
          <a:bodyPr wrap="square" lIns="0" tIns="0" rIns="0" bIns="0" rtlCol="0" anchor="ctr"/>
          <a:lstStyle/>
          <a:p>
            <a:pPr algn="ctr" indent="0" marL="0">
              <a:buNone/>
            </a:pPr>
            <a:r>
              <a:rPr lang="en-US" sz="800" b="1" dirty="0">
                <a:solidFill>
                  <a:srgbClr val="FFFFFF"/>
                </a:solidFill>
              </a:rPr>
              <a:t>SENIOR LEADERSHIP BRIEFING</a:t>
            </a:r>
            <a:endParaRPr lang="en-US" sz="800" dirty="0"/>
          </a:p>
        </p:txBody>
      </p:sp>
      <p:sp>
        <p:nvSpPr>
          <p:cNvPr id="7" name="Text 5"/>
          <p:cNvSpPr/>
          <p:nvPr/>
        </p:nvSpPr>
        <p:spPr>
          <a:xfrm>
            <a:off x="457200" y="1371600"/>
            <a:ext cx="7772400" cy="777240"/>
          </a:xfrm>
          <a:prstGeom prst="rect">
            <a:avLst/>
          </a:prstGeom>
          <a:noFill/>
          <a:ln/>
        </p:spPr>
        <p:txBody>
          <a:bodyPr wrap="square"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Global Automation</a:t>
            </a:r>
            <a:endParaRPr lang="en-US" sz="4400" dirty="0"/>
          </a:p>
        </p:txBody>
      </p:sp>
      <p:sp>
        <p:nvSpPr>
          <p:cNvPr id="8" name="Text 6"/>
          <p:cNvSpPr/>
          <p:nvPr/>
        </p:nvSpPr>
        <p:spPr>
          <a:xfrm>
            <a:off x="457200" y="2084832"/>
            <a:ext cx="7772400" cy="640080"/>
          </a:xfrm>
          <a:prstGeom prst="rect">
            <a:avLst/>
          </a:prstGeom>
          <a:noFill/>
          <a:ln/>
        </p:spPr>
        <p:txBody>
          <a:bodyPr wrap="square" rtlCol="0" anchor="ctr"/>
          <a:lstStyle/>
          <a:p>
            <a:pPr algn="l" indent="0" marL="0">
              <a:buNone/>
            </a:pPr>
            <a:r>
              <a:rPr lang="en-US" sz="3000" dirty="0">
                <a:solidFill>
                  <a:srgbClr val="CADCFC"/>
                </a:solidFill>
                <a:latin typeface="Calibri" pitchFamily="34" charset="0"/>
                <a:ea typeface="Calibri" pitchFamily="34" charset="-122"/>
                <a:cs typeface="Calibri" pitchFamily="34" charset="-120"/>
              </a:rPr>
              <a:t>Standards, Enablement &amp; Roadmap</a:t>
            </a:r>
            <a:endParaRPr lang="en-US" sz="3000" dirty="0"/>
          </a:p>
        </p:txBody>
      </p:sp>
      <p:sp>
        <p:nvSpPr>
          <p:cNvPr id="9" name="Shape 7"/>
          <p:cNvSpPr/>
          <p:nvPr/>
        </p:nvSpPr>
        <p:spPr>
          <a:xfrm>
            <a:off x="457200" y="2852928"/>
            <a:ext cx="5029200" cy="0"/>
          </a:xfrm>
          <a:prstGeom prst="line">
            <a:avLst/>
          </a:prstGeom>
          <a:noFill/>
          <a:ln w="19050">
            <a:solidFill>
              <a:srgbClr val="028090"/>
            </a:solidFill>
            <a:prstDash val="solid"/>
          </a:ln>
        </p:spPr>
      </p:sp>
      <p:sp>
        <p:nvSpPr>
          <p:cNvPr id="10" name="Text 8"/>
          <p:cNvSpPr/>
          <p:nvPr/>
        </p:nvSpPr>
        <p:spPr>
          <a:xfrm>
            <a:off x="457200" y="2999232"/>
            <a:ext cx="5486400" cy="320040"/>
          </a:xfrm>
          <a:prstGeom prst="rect">
            <a:avLst/>
          </a:prstGeom>
          <a:noFill/>
          <a:ln/>
        </p:spPr>
        <p:txBody>
          <a:bodyPr wrap="square" rtlCol="0" anchor="ctr"/>
          <a:lstStyle/>
          <a:p>
            <a:pPr algn="l" indent="0" marL="0">
              <a:buNone/>
            </a:pPr>
            <a:r>
              <a:rPr lang="en-US" sz="1300" i="1" dirty="0">
                <a:solidFill>
                  <a:srgbClr val="CADCFC"/>
                </a:solidFill>
              </a:rPr>
              <a:t>Automation Center of Excellence  |  Q2 2025</a:t>
            </a:r>
            <a:endParaRPr lang="en-US" sz="1300" dirty="0"/>
          </a:p>
        </p:txBody>
      </p:sp>
      <p:sp>
        <p:nvSpPr>
          <p:cNvPr id="11" name="Shape 9"/>
          <p:cNvSpPr/>
          <p:nvPr/>
        </p:nvSpPr>
        <p:spPr>
          <a:xfrm>
            <a:off x="457200" y="4160520"/>
            <a:ext cx="2560320" cy="457200"/>
          </a:xfrm>
          <a:prstGeom prst="roundRect">
            <a:avLst>
              <a:gd name="adj" fmla="val 16000"/>
            </a:avLst>
          </a:prstGeom>
          <a:solidFill>
            <a:srgbClr val="1E2761"/>
          </a:solidFill>
          <a:ln w="19050">
            <a:solidFill>
              <a:srgbClr val="028090"/>
            </a:solidFill>
            <a:prstDash val="solid"/>
          </a:ln>
        </p:spPr>
      </p:sp>
      <p:sp>
        <p:nvSpPr>
          <p:cNvPr id="12" name="Text 10"/>
          <p:cNvSpPr/>
          <p:nvPr/>
        </p:nvSpPr>
        <p:spPr>
          <a:xfrm>
            <a:off x="457200" y="4160520"/>
            <a:ext cx="2560320" cy="457200"/>
          </a:xfrm>
          <a:prstGeom prst="rect">
            <a:avLst/>
          </a:prstGeom>
          <a:noFill/>
          <a:ln/>
        </p:spPr>
        <p:txBody>
          <a:bodyPr wrap="square" rtlCol="0" anchor="ctr"/>
          <a:lstStyle/>
          <a:p>
            <a:pPr algn="ctr" indent="0" marL="0">
              <a:buNone/>
            </a:pPr>
            <a:r>
              <a:rPr lang="en-US" sz="1100" b="1" dirty="0">
                <a:solidFill>
                  <a:srgbClr val="02C39A"/>
                </a:solidFill>
              </a:rPr>
              <a:t>Automation Standards</a:t>
            </a:r>
            <a:endParaRPr lang="en-US" sz="1100" dirty="0"/>
          </a:p>
        </p:txBody>
      </p:sp>
      <p:sp>
        <p:nvSpPr>
          <p:cNvPr id="13" name="Shape 11"/>
          <p:cNvSpPr/>
          <p:nvPr/>
        </p:nvSpPr>
        <p:spPr>
          <a:xfrm>
            <a:off x="3291840" y="4160520"/>
            <a:ext cx="2560320" cy="457200"/>
          </a:xfrm>
          <a:prstGeom prst="roundRect">
            <a:avLst>
              <a:gd name="adj" fmla="val 16000"/>
            </a:avLst>
          </a:prstGeom>
          <a:solidFill>
            <a:srgbClr val="1E2761"/>
          </a:solidFill>
          <a:ln w="19050">
            <a:solidFill>
              <a:srgbClr val="028090"/>
            </a:solidFill>
            <a:prstDash val="solid"/>
          </a:ln>
        </p:spPr>
      </p:sp>
      <p:sp>
        <p:nvSpPr>
          <p:cNvPr id="14" name="Text 12"/>
          <p:cNvSpPr/>
          <p:nvPr/>
        </p:nvSpPr>
        <p:spPr>
          <a:xfrm>
            <a:off x="3291840" y="4160520"/>
            <a:ext cx="2560320" cy="457200"/>
          </a:xfrm>
          <a:prstGeom prst="rect">
            <a:avLst/>
          </a:prstGeom>
          <a:noFill/>
          <a:ln/>
        </p:spPr>
        <p:txBody>
          <a:bodyPr wrap="square" rtlCol="0" anchor="ctr"/>
          <a:lstStyle/>
          <a:p>
            <a:pPr algn="ctr" indent="0" marL="0">
              <a:buNone/>
            </a:pPr>
            <a:r>
              <a:rPr lang="en-US" sz="1100" b="1" dirty="0">
                <a:solidFill>
                  <a:srgbClr val="02C39A"/>
                </a:solidFill>
              </a:rPr>
              <a:t>Enablement Plan</a:t>
            </a:r>
            <a:endParaRPr lang="en-US" sz="1100" dirty="0"/>
          </a:p>
        </p:txBody>
      </p:sp>
      <p:sp>
        <p:nvSpPr>
          <p:cNvPr id="15" name="Shape 13"/>
          <p:cNvSpPr/>
          <p:nvPr/>
        </p:nvSpPr>
        <p:spPr>
          <a:xfrm>
            <a:off x="6126480" y="4160520"/>
            <a:ext cx="2560320" cy="457200"/>
          </a:xfrm>
          <a:prstGeom prst="roundRect">
            <a:avLst>
              <a:gd name="adj" fmla="val 16000"/>
            </a:avLst>
          </a:prstGeom>
          <a:solidFill>
            <a:srgbClr val="1E2761"/>
          </a:solidFill>
          <a:ln w="19050">
            <a:solidFill>
              <a:srgbClr val="028090"/>
            </a:solidFill>
            <a:prstDash val="solid"/>
          </a:ln>
        </p:spPr>
      </p:sp>
      <p:sp>
        <p:nvSpPr>
          <p:cNvPr id="16" name="Text 14"/>
          <p:cNvSpPr/>
          <p:nvPr/>
        </p:nvSpPr>
        <p:spPr>
          <a:xfrm>
            <a:off x="6126480" y="4160520"/>
            <a:ext cx="2560320" cy="457200"/>
          </a:xfrm>
          <a:prstGeom prst="rect">
            <a:avLst/>
          </a:prstGeom>
          <a:noFill/>
          <a:ln/>
        </p:spPr>
        <p:txBody>
          <a:bodyPr wrap="square" rtlCol="0" anchor="ctr"/>
          <a:lstStyle/>
          <a:p>
            <a:pPr algn="ctr" indent="0" marL="0">
              <a:buNone/>
            </a:pPr>
            <a:r>
              <a:rPr lang="en-US" sz="1100" b="1" dirty="0">
                <a:solidFill>
                  <a:srgbClr val="02C39A"/>
                </a:solidFill>
              </a:rPr>
              <a:t>Reporting → Enforcement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Text 1"/>
          <p:cNvSpPr/>
          <p:nvPr/>
        </p:nvSpPr>
        <p:spPr>
          <a:xfrm>
            <a:off x="365760" y="0"/>
            <a:ext cx="8229600" cy="914400"/>
          </a:xfrm>
          <a:prstGeom prst="rect">
            <a:avLst/>
          </a:prstGeom>
          <a:noFill/>
          <a:ln/>
        </p:spPr>
        <p:txBody>
          <a:bodyPr wrap="square" rtlCol="0" anchor="ctr"/>
          <a:lstStyle/>
          <a:p>
            <a:pPr indent="0" marL="0">
              <a:buNone/>
            </a:pPr>
            <a:r>
              <a:rPr lang="en-US" sz="2600" b="1" dirty="0">
                <a:solidFill>
                  <a:srgbClr val="FFFFFF"/>
                </a:solidFill>
              </a:rPr>
              <a:t>Purpose &amp; Discussion Agenda</a:t>
            </a:r>
            <a:endParaRPr lang="en-US" sz="2600" dirty="0"/>
          </a:p>
        </p:txBody>
      </p:sp>
      <p:sp>
        <p:nvSpPr>
          <p:cNvPr id="4" name="Shape 2"/>
          <p:cNvSpPr/>
          <p:nvPr/>
        </p:nvSpPr>
        <p:spPr>
          <a:xfrm>
            <a:off x="0" y="0"/>
            <a:ext cx="109728" cy="914400"/>
          </a:xfrm>
          <a:prstGeom prst="rect">
            <a:avLst/>
          </a:prstGeom>
          <a:solidFill>
            <a:srgbClr val="028090"/>
          </a:solidFill>
          <a:ln w="12700">
            <a:solidFill>
              <a:srgbClr val="028090"/>
            </a:solidFill>
            <a:prstDash val="solid"/>
          </a:ln>
        </p:spPr>
      </p:sp>
      <p:sp>
        <p:nvSpPr>
          <p:cNvPr id="5" name="Shape 3"/>
          <p:cNvSpPr/>
          <p:nvPr/>
        </p:nvSpPr>
        <p:spPr>
          <a:xfrm>
            <a:off x="320040" y="109728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8000"/>
              </a:srgbClr>
            </a:outerShdw>
          </a:effectLst>
        </p:spPr>
      </p:sp>
      <p:sp>
        <p:nvSpPr>
          <p:cNvPr id="6" name="Shape 4"/>
          <p:cNvSpPr/>
          <p:nvPr/>
        </p:nvSpPr>
        <p:spPr>
          <a:xfrm>
            <a:off x="320040" y="1097280"/>
            <a:ext cx="2743200" cy="502920"/>
          </a:xfrm>
          <a:prstGeom prst="rect">
            <a:avLst/>
          </a:prstGeom>
          <a:solidFill>
            <a:srgbClr val="028090"/>
          </a:solidFill>
          <a:ln w="12700">
            <a:solidFill>
              <a:srgbClr val="028090"/>
            </a:solidFill>
            <a:prstDash val="solid"/>
          </a:ln>
        </p:spPr>
      </p:sp>
      <p:sp>
        <p:nvSpPr>
          <p:cNvPr id="7" name="Text 5"/>
          <p:cNvSpPr/>
          <p:nvPr/>
        </p:nvSpPr>
        <p:spPr>
          <a:xfrm>
            <a:off x="320040" y="1097280"/>
            <a:ext cx="594360" cy="502920"/>
          </a:xfrm>
          <a:prstGeom prst="rect">
            <a:avLst/>
          </a:prstGeom>
          <a:noFill/>
          <a:ln/>
        </p:spPr>
        <p:txBody>
          <a:bodyPr wrap="square" lIns="0" tIns="0" rIns="0" bIns="0" rtlCol="0" anchor="ctr"/>
          <a:lstStyle/>
          <a:p>
            <a:pPr algn="ctr" indent="0" marL="0">
              <a:buNone/>
            </a:pPr>
            <a:r>
              <a:rPr lang="en-US" sz="2000" b="1" dirty="0">
                <a:solidFill>
                  <a:srgbClr val="FFFFFF"/>
                </a:solidFill>
              </a:rPr>
              <a:t>01</a:t>
            </a:r>
            <a:endParaRPr lang="en-US" sz="2000" dirty="0"/>
          </a:p>
        </p:txBody>
      </p:sp>
      <p:sp>
        <p:nvSpPr>
          <p:cNvPr id="8" name="Text 6"/>
          <p:cNvSpPr/>
          <p:nvPr/>
        </p:nvSpPr>
        <p:spPr>
          <a:xfrm>
            <a:off x="914400" y="1097280"/>
            <a:ext cx="2148840" cy="502920"/>
          </a:xfrm>
          <a:prstGeom prst="rect">
            <a:avLst/>
          </a:prstGeom>
          <a:noFill/>
          <a:ln/>
        </p:spPr>
        <p:txBody>
          <a:bodyPr wrap="square" rtlCol="0" anchor="ctr"/>
          <a:lstStyle/>
          <a:p>
            <a:pPr algn="l" indent="0" marL="0">
              <a:buNone/>
            </a:pPr>
            <a:r>
              <a:rPr lang="en-US" sz="800" b="1" spc="200" kern="0" dirty="0">
                <a:solidFill>
                  <a:srgbClr val="C8EAF0"/>
                </a:solidFill>
              </a:rPr>
              <a:t>ALIGNMENT ASK</a:t>
            </a:r>
            <a:endParaRPr lang="en-US" sz="800" dirty="0"/>
          </a:p>
        </p:txBody>
      </p:sp>
      <p:sp>
        <p:nvSpPr>
          <p:cNvPr id="9" name="Text 7"/>
          <p:cNvSpPr/>
          <p:nvPr/>
        </p:nvSpPr>
        <p:spPr>
          <a:xfrm>
            <a:off x="457200" y="1691640"/>
            <a:ext cx="2468880" cy="457200"/>
          </a:xfrm>
          <a:prstGeom prst="rect">
            <a:avLst/>
          </a:prstGeom>
          <a:noFill/>
          <a:ln/>
        </p:spPr>
        <p:txBody>
          <a:bodyPr wrap="square" rtlCol="0" anchor="ctr"/>
          <a:lstStyle/>
          <a:p>
            <a:pPr algn="l" indent="0" marL="0">
              <a:buNone/>
            </a:pPr>
            <a:r>
              <a:rPr lang="en-US" sz="1400" b="1" dirty="0">
                <a:solidFill>
                  <a:srgbClr val="1E2761"/>
                </a:solidFill>
              </a:rPr>
              <a:t>Standards Direction</a:t>
            </a:r>
            <a:endParaRPr lang="en-US" sz="1400" dirty="0"/>
          </a:p>
        </p:txBody>
      </p:sp>
      <p:sp>
        <p:nvSpPr>
          <p:cNvPr id="10" name="Text 8"/>
          <p:cNvSpPr/>
          <p:nvPr/>
        </p:nvSpPr>
        <p:spPr>
          <a:xfrm>
            <a:off x="457200" y="2194560"/>
            <a:ext cx="2468880" cy="2011680"/>
          </a:xfrm>
          <a:prstGeom prst="rect">
            <a:avLst/>
          </a:prstGeom>
          <a:noFill/>
          <a:ln/>
        </p:spPr>
        <p:txBody>
          <a:bodyPr wrap="square" rtlCol="0" anchor="t"/>
          <a:lstStyle/>
          <a:p>
            <a:pPr algn="l" indent="0" marL="0">
              <a:buNone/>
            </a:pPr>
            <a:r>
              <a:rPr lang="en-US" sz="1100" dirty="0">
                <a:solidFill>
                  <a:srgbClr val="4A5568"/>
                </a:solidFill>
              </a:rPr>
              <a:t>Confirm alignment on outcome-focused guardrails that enable regional flexibility within a consistent global framework.</a:t>
            </a:r>
            <a:endParaRPr lang="en-US" sz="1100" dirty="0"/>
          </a:p>
        </p:txBody>
      </p:sp>
      <p:sp>
        <p:nvSpPr>
          <p:cNvPr id="11" name="Shape 9"/>
          <p:cNvSpPr/>
          <p:nvPr/>
        </p:nvSpPr>
        <p:spPr>
          <a:xfrm>
            <a:off x="3264408" y="109728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8000"/>
              </a:srgbClr>
            </a:outerShdw>
          </a:effectLst>
        </p:spPr>
      </p:sp>
      <p:sp>
        <p:nvSpPr>
          <p:cNvPr id="12" name="Shape 10"/>
          <p:cNvSpPr/>
          <p:nvPr/>
        </p:nvSpPr>
        <p:spPr>
          <a:xfrm>
            <a:off x="3264408" y="1097280"/>
            <a:ext cx="2743200" cy="502920"/>
          </a:xfrm>
          <a:prstGeom prst="rect">
            <a:avLst/>
          </a:prstGeom>
          <a:solidFill>
            <a:srgbClr val="028090"/>
          </a:solidFill>
          <a:ln w="12700">
            <a:solidFill>
              <a:srgbClr val="028090"/>
            </a:solidFill>
            <a:prstDash val="solid"/>
          </a:ln>
        </p:spPr>
      </p:sp>
      <p:sp>
        <p:nvSpPr>
          <p:cNvPr id="13" name="Text 11"/>
          <p:cNvSpPr/>
          <p:nvPr/>
        </p:nvSpPr>
        <p:spPr>
          <a:xfrm>
            <a:off x="3264408" y="1097280"/>
            <a:ext cx="594360" cy="502920"/>
          </a:xfrm>
          <a:prstGeom prst="rect">
            <a:avLst/>
          </a:prstGeom>
          <a:noFill/>
          <a:ln/>
        </p:spPr>
        <p:txBody>
          <a:bodyPr wrap="square" lIns="0" tIns="0" rIns="0" bIns="0" rtlCol="0" anchor="ctr"/>
          <a:lstStyle/>
          <a:p>
            <a:pPr algn="ctr" indent="0" marL="0">
              <a:buNone/>
            </a:pPr>
            <a:r>
              <a:rPr lang="en-US" sz="2000" b="1" dirty="0">
                <a:solidFill>
                  <a:srgbClr val="FFFFFF"/>
                </a:solidFill>
              </a:rPr>
              <a:t>02</a:t>
            </a:r>
            <a:endParaRPr lang="en-US" sz="2000" dirty="0"/>
          </a:p>
        </p:txBody>
      </p:sp>
      <p:sp>
        <p:nvSpPr>
          <p:cNvPr id="14" name="Text 12"/>
          <p:cNvSpPr/>
          <p:nvPr/>
        </p:nvSpPr>
        <p:spPr>
          <a:xfrm>
            <a:off x="3858768" y="1097280"/>
            <a:ext cx="2148840" cy="502920"/>
          </a:xfrm>
          <a:prstGeom prst="rect">
            <a:avLst/>
          </a:prstGeom>
          <a:noFill/>
          <a:ln/>
        </p:spPr>
        <p:txBody>
          <a:bodyPr wrap="square" rtlCol="0" anchor="ctr"/>
          <a:lstStyle/>
          <a:p>
            <a:pPr algn="l" indent="0" marL="0">
              <a:buNone/>
            </a:pPr>
            <a:r>
              <a:rPr lang="en-US" sz="800" b="1" spc="200" kern="0" dirty="0">
                <a:solidFill>
                  <a:srgbClr val="C8EAF0"/>
                </a:solidFill>
              </a:rPr>
              <a:t>ALIGNMENT ASK</a:t>
            </a:r>
            <a:endParaRPr lang="en-US" sz="800" dirty="0"/>
          </a:p>
        </p:txBody>
      </p:sp>
      <p:sp>
        <p:nvSpPr>
          <p:cNvPr id="15" name="Text 13"/>
          <p:cNvSpPr/>
          <p:nvPr/>
        </p:nvSpPr>
        <p:spPr>
          <a:xfrm>
            <a:off x="3401568" y="1691640"/>
            <a:ext cx="2468880" cy="457200"/>
          </a:xfrm>
          <a:prstGeom prst="rect">
            <a:avLst/>
          </a:prstGeom>
          <a:noFill/>
          <a:ln/>
        </p:spPr>
        <p:txBody>
          <a:bodyPr wrap="square" rtlCol="0" anchor="ctr"/>
          <a:lstStyle/>
          <a:p>
            <a:pPr algn="l" indent="0" marL="0">
              <a:buNone/>
            </a:pPr>
            <a:r>
              <a:rPr lang="en-US" sz="1400" b="1" dirty="0">
                <a:solidFill>
                  <a:srgbClr val="1E2761"/>
                </a:solidFill>
              </a:rPr>
              <a:t>Enablement Plan</a:t>
            </a:r>
            <a:endParaRPr lang="en-US" sz="1400" dirty="0"/>
          </a:p>
        </p:txBody>
      </p:sp>
      <p:sp>
        <p:nvSpPr>
          <p:cNvPr id="16" name="Text 14"/>
          <p:cNvSpPr/>
          <p:nvPr/>
        </p:nvSpPr>
        <p:spPr>
          <a:xfrm>
            <a:off x="3401568" y="2194560"/>
            <a:ext cx="2468880" cy="2011680"/>
          </a:xfrm>
          <a:prstGeom prst="rect">
            <a:avLst/>
          </a:prstGeom>
          <a:noFill/>
          <a:ln/>
        </p:spPr>
        <p:txBody>
          <a:bodyPr wrap="square" rtlCol="0" anchor="t"/>
          <a:lstStyle/>
          <a:p>
            <a:pPr algn="l" indent="0" marL="0">
              <a:buNone/>
            </a:pPr>
            <a:r>
              <a:rPr lang="en-US" sz="1100" dirty="0">
                <a:solidFill>
                  <a:srgbClr val="4A5568"/>
                </a:solidFill>
              </a:rPr>
              <a:t>Validate the enablement approach and identify where leadership can help remove barriers to adoption across regions.</a:t>
            </a:r>
            <a:endParaRPr lang="en-US" sz="1100" dirty="0"/>
          </a:p>
        </p:txBody>
      </p:sp>
      <p:sp>
        <p:nvSpPr>
          <p:cNvPr id="17" name="Shape 15"/>
          <p:cNvSpPr/>
          <p:nvPr/>
        </p:nvSpPr>
        <p:spPr>
          <a:xfrm>
            <a:off x="6208776" y="109728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8000"/>
              </a:srgbClr>
            </a:outerShdw>
          </a:effectLst>
        </p:spPr>
      </p:sp>
      <p:sp>
        <p:nvSpPr>
          <p:cNvPr id="18" name="Shape 16"/>
          <p:cNvSpPr/>
          <p:nvPr/>
        </p:nvSpPr>
        <p:spPr>
          <a:xfrm>
            <a:off x="6208776" y="1097280"/>
            <a:ext cx="2743200" cy="502920"/>
          </a:xfrm>
          <a:prstGeom prst="rect">
            <a:avLst/>
          </a:prstGeom>
          <a:solidFill>
            <a:srgbClr val="028090"/>
          </a:solidFill>
          <a:ln w="12700">
            <a:solidFill>
              <a:srgbClr val="028090"/>
            </a:solidFill>
            <a:prstDash val="solid"/>
          </a:ln>
        </p:spPr>
      </p:sp>
      <p:sp>
        <p:nvSpPr>
          <p:cNvPr id="19" name="Text 17"/>
          <p:cNvSpPr/>
          <p:nvPr/>
        </p:nvSpPr>
        <p:spPr>
          <a:xfrm>
            <a:off x="6208776" y="1097280"/>
            <a:ext cx="594360" cy="502920"/>
          </a:xfrm>
          <a:prstGeom prst="rect">
            <a:avLst/>
          </a:prstGeom>
          <a:noFill/>
          <a:ln/>
        </p:spPr>
        <p:txBody>
          <a:bodyPr wrap="square" lIns="0" tIns="0" rIns="0" bIns="0" rtlCol="0" anchor="ctr"/>
          <a:lstStyle/>
          <a:p>
            <a:pPr algn="ctr" indent="0" marL="0">
              <a:buNone/>
            </a:pPr>
            <a:r>
              <a:rPr lang="en-US" sz="2000" b="1" dirty="0">
                <a:solidFill>
                  <a:srgbClr val="FFFFFF"/>
                </a:solidFill>
              </a:rPr>
              <a:t>03</a:t>
            </a:r>
            <a:endParaRPr lang="en-US" sz="2000" dirty="0"/>
          </a:p>
        </p:txBody>
      </p:sp>
      <p:sp>
        <p:nvSpPr>
          <p:cNvPr id="20" name="Text 18"/>
          <p:cNvSpPr/>
          <p:nvPr/>
        </p:nvSpPr>
        <p:spPr>
          <a:xfrm>
            <a:off x="6803136" y="1097280"/>
            <a:ext cx="2148840" cy="502920"/>
          </a:xfrm>
          <a:prstGeom prst="rect">
            <a:avLst/>
          </a:prstGeom>
          <a:noFill/>
          <a:ln/>
        </p:spPr>
        <p:txBody>
          <a:bodyPr wrap="square" rtlCol="0" anchor="ctr"/>
          <a:lstStyle/>
          <a:p>
            <a:pPr algn="l" indent="0" marL="0">
              <a:buNone/>
            </a:pPr>
            <a:r>
              <a:rPr lang="en-US" sz="800" b="1" spc="200" kern="0" dirty="0">
                <a:solidFill>
                  <a:srgbClr val="C8EAF0"/>
                </a:solidFill>
              </a:rPr>
              <a:t>ALIGNMENT ASK</a:t>
            </a:r>
            <a:endParaRPr lang="en-US" sz="800" dirty="0"/>
          </a:p>
        </p:txBody>
      </p:sp>
      <p:sp>
        <p:nvSpPr>
          <p:cNvPr id="21" name="Text 19"/>
          <p:cNvSpPr/>
          <p:nvPr/>
        </p:nvSpPr>
        <p:spPr>
          <a:xfrm>
            <a:off x="6345936" y="1691640"/>
            <a:ext cx="2468880" cy="457200"/>
          </a:xfrm>
          <a:prstGeom prst="rect">
            <a:avLst/>
          </a:prstGeom>
          <a:noFill/>
          <a:ln/>
        </p:spPr>
        <p:txBody>
          <a:bodyPr wrap="square" rtlCol="0" anchor="ctr"/>
          <a:lstStyle/>
          <a:p>
            <a:pPr algn="l" indent="0" marL="0">
              <a:buNone/>
            </a:pPr>
            <a:r>
              <a:rPr lang="en-US" sz="1400" b="1" dirty="0">
                <a:solidFill>
                  <a:srgbClr val="1E2761"/>
                </a:solidFill>
              </a:rPr>
              <a:t>Reporting → Enforcement Roadmap</a:t>
            </a:r>
            <a:endParaRPr lang="en-US" sz="1400" dirty="0"/>
          </a:p>
        </p:txBody>
      </p:sp>
      <p:sp>
        <p:nvSpPr>
          <p:cNvPr id="22" name="Text 20"/>
          <p:cNvSpPr/>
          <p:nvPr/>
        </p:nvSpPr>
        <p:spPr>
          <a:xfrm>
            <a:off x="6345936" y="2194560"/>
            <a:ext cx="2468880" cy="2011680"/>
          </a:xfrm>
          <a:prstGeom prst="rect">
            <a:avLst/>
          </a:prstGeom>
          <a:noFill/>
          <a:ln/>
        </p:spPr>
        <p:txBody>
          <a:bodyPr wrap="square" rtlCol="0" anchor="t"/>
          <a:lstStyle/>
          <a:p>
            <a:pPr algn="l" indent="0" marL="0">
              <a:buNone/>
            </a:pPr>
            <a:r>
              <a:rPr lang="en-US" sz="1100" dirty="0">
                <a:solidFill>
                  <a:srgbClr val="4A5568"/>
                </a:solidFill>
              </a:rPr>
              <a:t>Align on the phased timeline—when measurement begins, when it becomes operational gating, and what fair enforcement looks like.</a:t>
            </a:r>
            <a:endParaRPr lang="en-US" sz="1100" dirty="0"/>
          </a:p>
        </p:txBody>
      </p:sp>
      <p:sp>
        <p:nvSpPr>
          <p:cNvPr id="23" name="Text 21"/>
          <p:cNvSpPr/>
          <p:nvPr/>
        </p:nvSpPr>
        <p:spPr>
          <a:xfrm>
            <a:off x="365760" y="4663440"/>
            <a:ext cx="8412480" cy="365760"/>
          </a:xfrm>
          <a:prstGeom prst="rect">
            <a:avLst/>
          </a:prstGeom>
          <a:noFill/>
          <a:ln/>
        </p:spPr>
        <p:txBody>
          <a:bodyPr wrap="square" rtlCol="0" anchor="ctr"/>
          <a:lstStyle/>
          <a:p>
            <a:pPr algn="l" indent="0" marL="0">
              <a:buNone/>
            </a:pPr>
            <a:r>
              <a:rPr lang="en-US" sz="1050" i="1" dirty="0">
                <a:solidFill>
                  <a:srgbClr val="4A5568"/>
                </a:solidFill>
              </a:rPr>
              <a:t>Closing segment: KPIs &amp; leadership value — what success looks like, how this reduces risk, and what's in it for the enterprise.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229600" cy="914400"/>
          </a:xfrm>
          <a:prstGeom prst="rect">
            <a:avLst/>
          </a:prstGeom>
          <a:noFill/>
          <a:ln/>
        </p:spPr>
        <p:txBody>
          <a:bodyPr wrap="square" rtlCol="0" anchor="ctr"/>
          <a:lstStyle/>
          <a:p>
            <a:pPr indent="0" marL="0">
              <a:buNone/>
            </a:pPr>
            <a:r>
              <a:rPr lang="en-US" sz="2600" b="1" dirty="0">
                <a:solidFill>
                  <a:srgbClr val="FFFFFF"/>
                </a:solidFill>
              </a:rPr>
              <a:t>Where We Are Today</a:t>
            </a:r>
            <a:endParaRPr lang="en-US" sz="2600" dirty="0"/>
          </a:p>
        </p:txBody>
      </p:sp>
      <p:sp>
        <p:nvSpPr>
          <p:cNvPr id="5" name="Text 3"/>
          <p:cNvSpPr/>
          <p:nvPr/>
        </p:nvSpPr>
        <p:spPr>
          <a:xfrm>
            <a:off x="365760" y="1051560"/>
            <a:ext cx="1280160" cy="320040"/>
          </a:xfrm>
          <a:prstGeom prst="rect">
            <a:avLst/>
          </a:prstGeom>
          <a:noFill/>
          <a:ln/>
        </p:spPr>
        <p:txBody>
          <a:bodyPr wrap="square" rtlCol="0" anchor="ctr"/>
          <a:lstStyle/>
          <a:p>
            <a:pPr indent="0" marL="0">
              <a:buNone/>
            </a:pPr>
            <a:r>
              <a:rPr lang="en-US" sz="1200" b="1" dirty="0">
                <a:solidFill>
                  <a:srgbClr val="1E2761"/>
                </a:solidFill>
              </a:rPr>
              <a:t>Standards</a:t>
            </a:r>
            <a:endParaRPr lang="en-US" sz="1200" dirty="0"/>
          </a:p>
        </p:txBody>
      </p:sp>
      <p:sp>
        <p:nvSpPr>
          <p:cNvPr id="6" name="Text 4"/>
          <p:cNvSpPr/>
          <p:nvPr/>
        </p:nvSpPr>
        <p:spPr>
          <a:xfrm>
            <a:off x="365760" y="1353312"/>
            <a:ext cx="3474720" cy="320040"/>
          </a:xfrm>
          <a:prstGeom prst="rect">
            <a:avLst/>
          </a:prstGeom>
          <a:noFill/>
          <a:ln/>
        </p:spPr>
        <p:txBody>
          <a:bodyPr wrap="square" rtlCol="0" anchor="ctr"/>
          <a:lstStyle/>
          <a:p>
            <a:pPr indent="0" marL="0">
              <a:buNone/>
            </a:pPr>
            <a:r>
              <a:rPr lang="en-US" sz="950" i="1" dirty="0">
                <a:solidFill>
                  <a:srgbClr val="4A5568"/>
                </a:solidFill>
              </a:rPr>
              <a:t>FROM: Distributed, inconsistent</a:t>
            </a:r>
            <a:endParaRPr lang="en-US" sz="950" dirty="0"/>
          </a:p>
        </p:txBody>
      </p:sp>
      <p:sp>
        <p:nvSpPr>
          <p:cNvPr id="7" name="Shape 5"/>
          <p:cNvSpPr/>
          <p:nvPr/>
        </p:nvSpPr>
        <p:spPr>
          <a:xfrm>
            <a:off x="3977640" y="1481328"/>
            <a:ext cx="365760" cy="0"/>
          </a:xfrm>
          <a:prstGeom prst="line">
            <a:avLst/>
          </a:prstGeom>
          <a:noFill/>
          <a:ln w="25400">
            <a:solidFill>
              <a:srgbClr val="028090"/>
            </a:solidFill>
            <a:prstDash val="solid"/>
          </a:ln>
        </p:spPr>
      </p:sp>
      <p:sp>
        <p:nvSpPr>
          <p:cNvPr id="8" name="Text 6"/>
          <p:cNvSpPr/>
          <p:nvPr/>
        </p:nvSpPr>
        <p:spPr>
          <a:xfrm>
            <a:off x="4160520" y="1371600"/>
            <a:ext cx="182880" cy="228600"/>
          </a:xfrm>
          <a:prstGeom prst="rect">
            <a:avLst/>
          </a:prstGeom>
          <a:noFill/>
          <a:ln/>
        </p:spPr>
        <p:txBody>
          <a:bodyPr wrap="square" rtlCol="0" anchor="ctr"/>
          <a:lstStyle/>
          <a:p>
            <a:pPr indent="0" marL="0">
              <a:buNone/>
            </a:pPr>
            <a:r>
              <a:rPr lang="en-US" sz="900" dirty="0">
                <a:solidFill>
                  <a:srgbClr val="028090"/>
                </a:solidFill>
              </a:rPr>
              <a:t>▶</a:t>
            </a:r>
            <a:endParaRPr lang="en-US" sz="900" dirty="0"/>
          </a:p>
        </p:txBody>
      </p:sp>
      <p:sp>
        <p:nvSpPr>
          <p:cNvPr id="9" name="Text 7"/>
          <p:cNvSpPr/>
          <p:nvPr/>
        </p:nvSpPr>
        <p:spPr>
          <a:xfrm>
            <a:off x="4389120" y="1353312"/>
            <a:ext cx="4206240" cy="320040"/>
          </a:xfrm>
          <a:prstGeom prst="rect">
            <a:avLst/>
          </a:prstGeom>
          <a:noFill/>
          <a:ln/>
        </p:spPr>
        <p:txBody>
          <a:bodyPr wrap="square" rtlCol="0" anchor="ctr"/>
          <a:lstStyle/>
          <a:p>
            <a:pPr indent="0" marL="0">
              <a:buNone/>
            </a:pPr>
            <a:r>
              <a:rPr lang="en-US" sz="950" b="1" dirty="0">
                <a:solidFill>
                  <a:srgbClr val="028090"/>
                </a:solidFill>
              </a:rPr>
              <a:t>TO: Global guardrails defined—outcome-focused, platform-neutral, regionally flexible</a:t>
            </a:r>
            <a:endParaRPr lang="en-US" sz="950" dirty="0"/>
          </a:p>
        </p:txBody>
      </p:sp>
      <p:sp>
        <p:nvSpPr>
          <p:cNvPr id="10" name="Shape 8"/>
          <p:cNvSpPr/>
          <p:nvPr/>
        </p:nvSpPr>
        <p:spPr>
          <a:xfrm>
            <a:off x="365760" y="1709928"/>
            <a:ext cx="8229600" cy="137160"/>
          </a:xfrm>
          <a:prstGeom prst="rect">
            <a:avLst/>
          </a:prstGeom>
          <a:solidFill>
            <a:srgbClr val="E2E8F0"/>
          </a:solidFill>
          <a:ln w="12700">
            <a:solidFill>
              <a:srgbClr val="E2E8F0"/>
            </a:solidFill>
            <a:prstDash val="solid"/>
          </a:ln>
        </p:spPr>
      </p:sp>
      <p:sp>
        <p:nvSpPr>
          <p:cNvPr id="11" name="Shape 9"/>
          <p:cNvSpPr/>
          <p:nvPr/>
        </p:nvSpPr>
        <p:spPr>
          <a:xfrm>
            <a:off x="365760" y="1709928"/>
            <a:ext cx="4526280" cy="137160"/>
          </a:xfrm>
          <a:prstGeom prst="rect">
            <a:avLst/>
          </a:prstGeom>
          <a:solidFill>
            <a:srgbClr val="028090"/>
          </a:solidFill>
          <a:ln w="12700">
            <a:solidFill>
              <a:srgbClr val="028090"/>
            </a:solidFill>
            <a:prstDash val="solid"/>
          </a:ln>
        </p:spPr>
      </p:sp>
      <p:sp>
        <p:nvSpPr>
          <p:cNvPr id="12" name="Text 10"/>
          <p:cNvSpPr/>
          <p:nvPr/>
        </p:nvSpPr>
        <p:spPr>
          <a:xfrm>
            <a:off x="8641080" y="1673352"/>
            <a:ext cx="457200" cy="228600"/>
          </a:xfrm>
          <a:prstGeom prst="rect">
            <a:avLst/>
          </a:prstGeom>
          <a:noFill/>
          <a:ln/>
        </p:spPr>
        <p:txBody>
          <a:bodyPr wrap="square" rtlCol="0" anchor="ctr"/>
          <a:lstStyle/>
          <a:p>
            <a:pPr indent="0" marL="0">
              <a:buNone/>
            </a:pPr>
            <a:r>
              <a:rPr lang="en-US" sz="900" b="1" dirty="0">
                <a:solidFill>
                  <a:srgbClr val="028090"/>
                </a:solidFill>
              </a:rPr>
              <a:t>55%</a:t>
            </a:r>
            <a:endParaRPr lang="en-US" sz="900" dirty="0"/>
          </a:p>
        </p:txBody>
      </p:sp>
      <p:sp>
        <p:nvSpPr>
          <p:cNvPr id="13" name="Shape 11"/>
          <p:cNvSpPr/>
          <p:nvPr/>
        </p:nvSpPr>
        <p:spPr>
          <a:xfrm>
            <a:off x="365760" y="1947672"/>
            <a:ext cx="8412480" cy="0"/>
          </a:xfrm>
          <a:prstGeom prst="line">
            <a:avLst/>
          </a:prstGeom>
          <a:noFill/>
          <a:ln w="6350">
            <a:solidFill>
              <a:srgbClr val="E2E8F0"/>
            </a:solidFill>
            <a:prstDash val="solid"/>
          </a:ln>
        </p:spPr>
      </p:sp>
      <p:sp>
        <p:nvSpPr>
          <p:cNvPr id="14" name="Text 12"/>
          <p:cNvSpPr/>
          <p:nvPr/>
        </p:nvSpPr>
        <p:spPr>
          <a:xfrm>
            <a:off x="365760" y="2011680"/>
            <a:ext cx="1280160" cy="320040"/>
          </a:xfrm>
          <a:prstGeom prst="rect">
            <a:avLst/>
          </a:prstGeom>
          <a:noFill/>
          <a:ln/>
        </p:spPr>
        <p:txBody>
          <a:bodyPr wrap="square" rtlCol="0" anchor="ctr"/>
          <a:lstStyle/>
          <a:p>
            <a:pPr indent="0" marL="0">
              <a:buNone/>
            </a:pPr>
            <a:r>
              <a:rPr lang="en-US" sz="1200" b="1" dirty="0">
                <a:solidFill>
                  <a:srgbClr val="1E2761"/>
                </a:solidFill>
              </a:rPr>
              <a:t>Enablement</a:t>
            </a:r>
            <a:endParaRPr lang="en-US" sz="1200" dirty="0"/>
          </a:p>
        </p:txBody>
      </p:sp>
      <p:sp>
        <p:nvSpPr>
          <p:cNvPr id="15" name="Text 13"/>
          <p:cNvSpPr/>
          <p:nvPr/>
        </p:nvSpPr>
        <p:spPr>
          <a:xfrm>
            <a:off x="365760" y="2313432"/>
            <a:ext cx="3474720" cy="320040"/>
          </a:xfrm>
          <a:prstGeom prst="rect">
            <a:avLst/>
          </a:prstGeom>
          <a:noFill/>
          <a:ln/>
        </p:spPr>
        <p:txBody>
          <a:bodyPr wrap="square" rtlCol="0" anchor="ctr"/>
          <a:lstStyle/>
          <a:p>
            <a:pPr indent="0" marL="0">
              <a:buNone/>
            </a:pPr>
            <a:r>
              <a:rPr lang="en-US" sz="950" i="1" dirty="0">
                <a:solidFill>
                  <a:srgbClr val="4A5568"/>
                </a:solidFill>
              </a:rPr>
              <a:t>FROM: Ad hoc guidance</a:t>
            </a:r>
            <a:endParaRPr lang="en-US" sz="950" dirty="0"/>
          </a:p>
        </p:txBody>
      </p:sp>
      <p:sp>
        <p:nvSpPr>
          <p:cNvPr id="16" name="Shape 14"/>
          <p:cNvSpPr/>
          <p:nvPr/>
        </p:nvSpPr>
        <p:spPr>
          <a:xfrm>
            <a:off x="3977640" y="2441448"/>
            <a:ext cx="365760" cy="0"/>
          </a:xfrm>
          <a:prstGeom prst="line">
            <a:avLst/>
          </a:prstGeom>
          <a:noFill/>
          <a:ln w="25400">
            <a:solidFill>
              <a:srgbClr val="028090"/>
            </a:solidFill>
            <a:prstDash val="solid"/>
          </a:ln>
        </p:spPr>
      </p:sp>
      <p:sp>
        <p:nvSpPr>
          <p:cNvPr id="17" name="Text 15"/>
          <p:cNvSpPr/>
          <p:nvPr/>
        </p:nvSpPr>
        <p:spPr>
          <a:xfrm>
            <a:off x="4160520" y="2331720"/>
            <a:ext cx="182880" cy="228600"/>
          </a:xfrm>
          <a:prstGeom prst="rect">
            <a:avLst/>
          </a:prstGeom>
          <a:noFill/>
          <a:ln/>
        </p:spPr>
        <p:txBody>
          <a:bodyPr wrap="square" rtlCol="0" anchor="ctr"/>
          <a:lstStyle/>
          <a:p>
            <a:pPr indent="0" marL="0">
              <a:buNone/>
            </a:pPr>
            <a:r>
              <a:rPr lang="en-US" sz="900" dirty="0">
                <a:solidFill>
                  <a:srgbClr val="028090"/>
                </a:solidFill>
              </a:rPr>
              <a:t>▶</a:t>
            </a:r>
            <a:endParaRPr lang="en-US" sz="900" dirty="0"/>
          </a:p>
        </p:txBody>
      </p:sp>
      <p:sp>
        <p:nvSpPr>
          <p:cNvPr id="18" name="Text 16"/>
          <p:cNvSpPr/>
          <p:nvPr/>
        </p:nvSpPr>
        <p:spPr>
          <a:xfrm>
            <a:off x="4389120" y="2313432"/>
            <a:ext cx="4206240" cy="320040"/>
          </a:xfrm>
          <a:prstGeom prst="rect">
            <a:avLst/>
          </a:prstGeom>
          <a:noFill/>
          <a:ln/>
        </p:spPr>
        <p:txBody>
          <a:bodyPr wrap="square" rtlCol="0" anchor="ctr"/>
          <a:lstStyle/>
          <a:p>
            <a:pPr indent="0" marL="0">
              <a:buNone/>
            </a:pPr>
            <a:r>
              <a:rPr lang="en-US" sz="950" b="1" dirty="0">
                <a:solidFill>
                  <a:srgbClr val="028090"/>
                </a:solidFill>
              </a:rPr>
              <a:t>TO: Structured onboarding, starter kits &amp; regional clinics in development</a:t>
            </a:r>
            <a:endParaRPr lang="en-US" sz="950" dirty="0"/>
          </a:p>
        </p:txBody>
      </p:sp>
      <p:sp>
        <p:nvSpPr>
          <p:cNvPr id="19" name="Shape 17"/>
          <p:cNvSpPr/>
          <p:nvPr/>
        </p:nvSpPr>
        <p:spPr>
          <a:xfrm>
            <a:off x="365760" y="2670048"/>
            <a:ext cx="8229600" cy="137160"/>
          </a:xfrm>
          <a:prstGeom prst="rect">
            <a:avLst/>
          </a:prstGeom>
          <a:solidFill>
            <a:srgbClr val="E2E8F0"/>
          </a:solidFill>
          <a:ln w="12700">
            <a:solidFill>
              <a:srgbClr val="E2E8F0"/>
            </a:solidFill>
            <a:prstDash val="solid"/>
          </a:ln>
        </p:spPr>
      </p:sp>
      <p:sp>
        <p:nvSpPr>
          <p:cNvPr id="20" name="Shape 18"/>
          <p:cNvSpPr/>
          <p:nvPr/>
        </p:nvSpPr>
        <p:spPr>
          <a:xfrm>
            <a:off x="365760" y="2670048"/>
            <a:ext cx="3291840" cy="137160"/>
          </a:xfrm>
          <a:prstGeom prst="rect">
            <a:avLst/>
          </a:prstGeom>
          <a:solidFill>
            <a:srgbClr val="028090"/>
          </a:solidFill>
          <a:ln w="12700">
            <a:solidFill>
              <a:srgbClr val="028090"/>
            </a:solidFill>
            <a:prstDash val="solid"/>
          </a:ln>
        </p:spPr>
      </p:sp>
      <p:sp>
        <p:nvSpPr>
          <p:cNvPr id="21" name="Text 19"/>
          <p:cNvSpPr/>
          <p:nvPr/>
        </p:nvSpPr>
        <p:spPr>
          <a:xfrm>
            <a:off x="8641080" y="2633472"/>
            <a:ext cx="457200" cy="228600"/>
          </a:xfrm>
          <a:prstGeom prst="rect">
            <a:avLst/>
          </a:prstGeom>
          <a:noFill/>
          <a:ln/>
        </p:spPr>
        <p:txBody>
          <a:bodyPr wrap="square" rtlCol="0" anchor="ctr"/>
          <a:lstStyle/>
          <a:p>
            <a:pPr indent="0" marL="0">
              <a:buNone/>
            </a:pPr>
            <a:r>
              <a:rPr lang="en-US" sz="900" b="1" dirty="0">
                <a:solidFill>
                  <a:srgbClr val="028090"/>
                </a:solidFill>
              </a:rPr>
              <a:t>40%</a:t>
            </a:r>
            <a:endParaRPr lang="en-US" sz="900" dirty="0"/>
          </a:p>
        </p:txBody>
      </p:sp>
      <p:sp>
        <p:nvSpPr>
          <p:cNvPr id="22" name="Shape 20"/>
          <p:cNvSpPr/>
          <p:nvPr/>
        </p:nvSpPr>
        <p:spPr>
          <a:xfrm>
            <a:off x="365760" y="2907792"/>
            <a:ext cx="8412480" cy="0"/>
          </a:xfrm>
          <a:prstGeom prst="line">
            <a:avLst/>
          </a:prstGeom>
          <a:noFill/>
          <a:ln w="6350">
            <a:solidFill>
              <a:srgbClr val="E2E8F0"/>
            </a:solidFill>
            <a:prstDash val="solid"/>
          </a:ln>
        </p:spPr>
      </p:sp>
      <p:sp>
        <p:nvSpPr>
          <p:cNvPr id="23" name="Text 21"/>
          <p:cNvSpPr/>
          <p:nvPr/>
        </p:nvSpPr>
        <p:spPr>
          <a:xfrm>
            <a:off x="365760" y="2971800"/>
            <a:ext cx="1280160" cy="320040"/>
          </a:xfrm>
          <a:prstGeom prst="rect">
            <a:avLst/>
          </a:prstGeom>
          <a:noFill/>
          <a:ln/>
        </p:spPr>
        <p:txBody>
          <a:bodyPr wrap="square" rtlCol="0" anchor="ctr"/>
          <a:lstStyle/>
          <a:p>
            <a:pPr indent="0" marL="0">
              <a:buNone/>
            </a:pPr>
            <a:r>
              <a:rPr lang="en-US" sz="1200" b="1" dirty="0">
                <a:solidFill>
                  <a:srgbClr val="1E2761"/>
                </a:solidFill>
              </a:rPr>
              <a:t>Reporting</a:t>
            </a:r>
            <a:endParaRPr lang="en-US" sz="1200" dirty="0"/>
          </a:p>
        </p:txBody>
      </p:sp>
      <p:sp>
        <p:nvSpPr>
          <p:cNvPr id="24" name="Text 22"/>
          <p:cNvSpPr/>
          <p:nvPr/>
        </p:nvSpPr>
        <p:spPr>
          <a:xfrm>
            <a:off x="365760" y="3273552"/>
            <a:ext cx="3474720" cy="320040"/>
          </a:xfrm>
          <a:prstGeom prst="rect">
            <a:avLst/>
          </a:prstGeom>
          <a:noFill/>
          <a:ln/>
        </p:spPr>
        <p:txBody>
          <a:bodyPr wrap="square" rtlCol="0" anchor="ctr"/>
          <a:lstStyle/>
          <a:p>
            <a:pPr indent="0" marL="0">
              <a:buNone/>
            </a:pPr>
            <a:r>
              <a:rPr lang="en-US" sz="950" i="1" dirty="0">
                <a:solidFill>
                  <a:srgbClr val="4A5568"/>
                </a:solidFill>
              </a:rPr>
              <a:t>FROM: No shared scorecard</a:t>
            </a:r>
            <a:endParaRPr lang="en-US" sz="950" dirty="0"/>
          </a:p>
        </p:txBody>
      </p:sp>
      <p:sp>
        <p:nvSpPr>
          <p:cNvPr id="25" name="Shape 23"/>
          <p:cNvSpPr/>
          <p:nvPr/>
        </p:nvSpPr>
        <p:spPr>
          <a:xfrm>
            <a:off x="3977640" y="3401568"/>
            <a:ext cx="365760" cy="0"/>
          </a:xfrm>
          <a:prstGeom prst="line">
            <a:avLst/>
          </a:prstGeom>
          <a:noFill/>
          <a:ln w="25400">
            <a:solidFill>
              <a:srgbClr val="028090"/>
            </a:solidFill>
            <a:prstDash val="solid"/>
          </a:ln>
        </p:spPr>
      </p:sp>
      <p:sp>
        <p:nvSpPr>
          <p:cNvPr id="26" name="Text 24"/>
          <p:cNvSpPr/>
          <p:nvPr/>
        </p:nvSpPr>
        <p:spPr>
          <a:xfrm>
            <a:off x="4160520" y="3291840"/>
            <a:ext cx="182880" cy="228600"/>
          </a:xfrm>
          <a:prstGeom prst="rect">
            <a:avLst/>
          </a:prstGeom>
          <a:noFill/>
          <a:ln/>
        </p:spPr>
        <p:txBody>
          <a:bodyPr wrap="square" rtlCol="0" anchor="ctr"/>
          <a:lstStyle/>
          <a:p>
            <a:pPr indent="0" marL="0">
              <a:buNone/>
            </a:pPr>
            <a:r>
              <a:rPr lang="en-US" sz="900" dirty="0">
                <a:solidFill>
                  <a:srgbClr val="028090"/>
                </a:solidFill>
              </a:rPr>
              <a:t>▶</a:t>
            </a:r>
            <a:endParaRPr lang="en-US" sz="900" dirty="0"/>
          </a:p>
        </p:txBody>
      </p:sp>
      <p:sp>
        <p:nvSpPr>
          <p:cNvPr id="27" name="Text 25"/>
          <p:cNvSpPr/>
          <p:nvPr/>
        </p:nvSpPr>
        <p:spPr>
          <a:xfrm>
            <a:off x="4389120" y="3273552"/>
            <a:ext cx="4206240" cy="320040"/>
          </a:xfrm>
          <a:prstGeom prst="rect">
            <a:avLst/>
          </a:prstGeom>
          <a:noFill/>
          <a:ln/>
        </p:spPr>
        <p:txBody>
          <a:bodyPr wrap="square" rtlCol="0" anchor="ctr"/>
          <a:lstStyle/>
          <a:p>
            <a:pPr indent="0" marL="0">
              <a:buNone/>
            </a:pPr>
            <a:r>
              <a:rPr lang="en-US" sz="950" b="1" dirty="0">
                <a:solidFill>
                  <a:srgbClr val="028090"/>
                </a:solidFill>
              </a:rPr>
              <a:t>TO: Scorecard dimensions defined; baseline data collection underway</a:t>
            </a:r>
            <a:endParaRPr lang="en-US" sz="950" dirty="0"/>
          </a:p>
        </p:txBody>
      </p:sp>
      <p:sp>
        <p:nvSpPr>
          <p:cNvPr id="28" name="Shape 26"/>
          <p:cNvSpPr/>
          <p:nvPr/>
        </p:nvSpPr>
        <p:spPr>
          <a:xfrm>
            <a:off x="365760" y="3630168"/>
            <a:ext cx="8229600" cy="137160"/>
          </a:xfrm>
          <a:prstGeom prst="rect">
            <a:avLst/>
          </a:prstGeom>
          <a:solidFill>
            <a:srgbClr val="E2E8F0"/>
          </a:solidFill>
          <a:ln w="12700">
            <a:solidFill>
              <a:srgbClr val="E2E8F0"/>
            </a:solidFill>
            <a:prstDash val="solid"/>
          </a:ln>
        </p:spPr>
      </p:sp>
      <p:sp>
        <p:nvSpPr>
          <p:cNvPr id="29" name="Shape 27"/>
          <p:cNvSpPr/>
          <p:nvPr/>
        </p:nvSpPr>
        <p:spPr>
          <a:xfrm>
            <a:off x="365760" y="3630168"/>
            <a:ext cx="2468880" cy="137160"/>
          </a:xfrm>
          <a:prstGeom prst="rect">
            <a:avLst/>
          </a:prstGeom>
          <a:solidFill>
            <a:srgbClr val="028090"/>
          </a:solidFill>
          <a:ln w="12700">
            <a:solidFill>
              <a:srgbClr val="028090"/>
            </a:solidFill>
            <a:prstDash val="solid"/>
          </a:ln>
        </p:spPr>
      </p:sp>
      <p:sp>
        <p:nvSpPr>
          <p:cNvPr id="30" name="Text 28"/>
          <p:cNvSpPr/>
          <p:nvPr/>
        </p:nvSpPr>
        <p:spPr>
          <a:xfrm>
            <a:off x="8641080" y="3593592"/>
            <a:ext cx="457200" cy="228600"/>
          </a:xfrm>
          <a:prstGeom prst="rect">
            <a:avLst/>
          </a:prstGeom>
          <a:noFill/>
          <a:ln/>
        </p:spPr>
        <p:txBody>
          <a:bodyPr wrap="square" rtlCol="0" anchor="ctr"/>
          <a:lstStyle/>
          <a:p>
            <a:pPr indent="0" marL="0">
              <a:buNone/>
            </a:pPr>
            <a:r>
              <a:rPr lang="en-US" sz="900" b="1" dirty="0">
                <a:solidFill>
                  <a:srgbClr val="028090"/>
                </a:solidFill>
              </a:rPr>
              <a:t>30%</a:t>
            </a:r>
            <a:endParaRPr lang="en-US" sz="900" dirty="0"/>
          </a:p>
        </p:txBody>
      </p:sp>
      <p:sp>
        <p:nvSpPr>
          <p:cNvPr id="31" name="Shape 29"/>
          <p:cNvSpPr/>
          <p:nvPr/>
        </p:nvSpPr>
        <p:spPr>
          <a:xfrm>
            <a:off x="365760" y="3867912"/>
            <a:ext cx="8412480" cy="0"/>
          </a:xfrm>
          <a:prstGeom prst="line">
            <a:avLst/>
          </a:prstGeom>
          <a:noFill/>
          <a:ln w="6350">
            <a:solidFill>
              <a:srgbClr val="E2E8F0"/>
            </a:solidFill>
            <a:prstDash val="solid"/>
          </a:ln>
        </p:spPr>
      </p:sp>
      <p:sp>
        <p:nvSpPr>
          <p:cNvPr id="32" name="Text 30"/>
          <p:cNvSpPr/>
          <p:nvPr/>
        </p:nvSpPr>
        <p:spPr>
          <a:xfrm>
            <a:off x="365760" y="3931920"/>
            <a:ext cx="1280160" cy="320040"/>
          </a:xfrm>
          <a:prstGeom prst="rect">
            <a:avLst/>
          </a:prstGeom>
          <a:noFill/>
          <a:ln/>
        </p:spPr>
        <p:txBody>
          <a:bodyPr wrap="square" rtlCol="0" anchor="ctr"/>
          <a:lstStyle/>
          <a:p>
            <a:pPr indent="0" marL="0">
              <a:buNone/>
            </a:pPr>
            <a:r>
              <a:rPr lang="en-US" sz="1200" b="1" dirty="0">
                <a:solidFill>
                  <a:srgbClr val="1E2761"/>
                </a:solidFill>
              </a:rPr>
              <a:t>Enforcement</a:t>
            </a:r>
            <a:endParaRPr lang="en-US" sz="1200" dirty="0"/>
          </a:p>
        </p:txBody>
      </p:sp>
      <p:sp>
        <p:nvSpPr>
          <p:cNvPr id="33" name="Text 31"/>
          <p:cNvSpPr/>
          <p:nvPr/>
        </p:nvSpPr>
        <p:spPr>
          <a:xfrm>
            <a:off x="365760" y="4233672"/>
            <a:ext cx="3474720" cy="320040"/>
          </a:xfrm>
          <a:prstGeom prst="rect">
            <a:avLst/>
          </a:prstGeom>
          <a:noFill/>
          <a:ln/>
        </p:spPr>
        <p:txBody>
          <a:bodyPr wrap="square" rtlCol="0" anchor="ctr"/>
          <a:lstStyle/>
          <a:p>
            <a:pPr indent="0" marL="0">
              <a:buNone/>
            </a:pPr>
            <a:r>
              <a:rPr lang="en-US" sz="950" i="1" dirty="0">
                <a:solidFill>
                  <a:srgbClr val="4A5568"/>
                </a:solidFill>
              </a:rPr>
              <a:t>FROM: No gating</a:t>
            </a:r>
            <a:endParaRPr lang="en-US" sz="950" dirty="0"/>
          </a:p>
        </p:txBody>
      </p:sp>
      <p:sp>
        <p:nvSpPr>
          <p:cNvPr id="34" name="Shape 32"/>
          <p:cNvSpPr/>
          <p:nvPr/>
        </p:nvSpPr>
        <p:spPr>
          <a:xfrm>
            <a:off x="3977640" y="4361688"/>
            <a:ext cx="365760" cy="0"/>
          </a:xfrm>
          <a:prstGeom prst="line">
            <a:avLst/>
          </a:prstGeom>
          <a:noFill/>
          <a:ln w="25400">
            <a:solidFill>
              <a:srgbClr val="028090"/>
            </a:solidFill>
            <a:prstDash val="solid"/>
          </a:ln>
        </p:spPr>
      </p:sp>
      <p:sp>
        <p:nvSpPr>
          <p:cNvPr id="35" name="Text 33"/>
          <p:cNvSpPr/>
          <p:nvPr/>
        </p:nvSpPr>
        <p:spPr>
          <a:xfrm>
            <a:off x="4160520" y="4251960"/>
            <a:ext cx="182880" cy="228600"/>
          </a:xfrm>
          <a:prstGeom prst="rect">
            <a:avLst/>
          </a:prstGeom>
          <a:noFill/>
          <a:ln/>
        </p:spPr>
        <p:txBody>
          <a:bodyPr wrap="square" rtlCol="0" anchor="ctr"/>
          <a:lstStyle/>
          <a:p>
            <a:pPr indent="0" marL="0">
              <a:buNone/>
            </a:pPr>
            <a:r>
              <a:rPr lang="en-US" sz="900" dirty="0">
                <a:solidFill>
                  <a:srgbClr val="028090"/>
                </a:solidFill>
              </a:rPr>
              <a:t>▶</a:t>
            </a:r>
            <a:endParaRPr lang="en-US" sz="900" dirty="0"/>
          </a:p>
        </p:txBody>
      </p:sp>
      <p:sp>
        <p:nvSpPr>
          <p:cNvPr id="36" name="Text 34"/>
          <p:cNvSpPr/>
          <p:nvPr/>
        </p:nvSpPr>
        <p:spPr>
          <a:xfrm>
            <a:off x="4389120" y="4233672"/>
            <a:ext cx="4206240" cy="320040"/>
          </a:xfrm>
          <a:prstGeom prst="rect">
            <a:avLst/>
          </a:prstGeom>
          <a:noFill/>
          <a:ln/>
        </p:spPr>
        <p:txBody>
          <a:bodyPr wrap="square" rtlCol="0" anchor="ctr"/>
          <a:lstStyle/>
          <a:p>
            <a:pPr indent="0" marL="0">
              <a:buNone/>
            </a:pPr>
            <a:r>
              <a:rPr lang="en-US" sz="950" b="1" dirty="0">
                <a:solidFill>
                  <a:srgbClr val="028090"/>
                </a:solidFill>
              </a:rPr>
              <a:t>TO: Phased introduction planned—enforcement follows stable reporting &amp; enablement</a:t>
            </a:r>
            <a:endParaRPr lang="en-US" sz="950" dirty="0"/>
          </a:p>
        </p:txBody>
      </p:sp>
      <p:sp>
        <p:nvSpPr>
          <p:cNvPr id="37" name="Shape 35"/>
          <p:cNvSpPr/>
          <p:nvPr/>
        </p:nvSpPr>
        <p:spPr>
          <a:xfrm>
            <a:off x="365760" y="4590288"/>
            <a:ext cx="8229600" cy="137160"/>
          </a:xfrm>
          <a:prstGeom prst="rect">
            <a:avLst/>
          </a:prstGeom>
          <a:solidFill>
            <a:srgbClr val="E2E8F0"/>
          </a:solidFill>
          <a:ln w="12700">
            <a:solidFill>
              <a:srgbClr val="E2E8F0"/>
            </a:solidFill>
            <a:prstDash val="solid"/>
          </a:ln>
        </p:spPr>
      </p:sp>
      <p:sp>
        <p:nvSpPr>
          <p:cNvPr id="38" name="Shape 36"/>
          <p:cNvSpPr/>
          <p:nvPr/>
        </p:nvSpPr>
        <p:spPr>
          <a:xfrm>
            <a:off x="365760" y="4590288"/>
            <a:ext cx="1234440" cy="137160"/>
          </a:xfrm>
          <a:prstGeom prst="rect">
            <a:avLst/>
          </a:prstGeom>
          <a:solidFill>
            <a:srgbClr val="028090"/>
          </a:solidFill>
          <a:ln w="12700">
            <a:solidFill>
              <a:srgbClr val="028090"/>
            </a:solidFill>
            <a:prstDash val="solid"/>
          </a:ln>
        </p:spPr>
      </p:sp>
      <p:sp>
        <p:nvSpPr>
          <p:cNvPr id="39" name="Text 37"/>
          <p:cNvSpPr/>
          <p:nvPr/>
        </p:nvSpPr>
        <p:spPr>
          <a:xfrm>
            <a:off x="8641080" y="4553712"/>
            <a:ext cx="457200" cy="228600"/>
          </a:xfrm>
          <a:prstGeom prst="rect">
            <a:avLst/>
          </a:prstGeom>
          <a:noFill/>
          <a:ln/>
        </p:spPr>
        <p:txBody>
          <a:bodyPr wrap="square" rtlCol="0" anchor="ctr"/>
          <a:lstStyle/>
          <a:p>
            <a:pPr indent="0" marL="0">
              <a:buNone/>
            </a:pPr>
            <a:r>
              <a:rPr lang="en-US" sz="900" b="1" dirty="0">
                <a:solidFill>
                  <a:srgbClr val="028090"/>
                </a:solidFill>
              </a:rPr>
              <a:t>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400" b="1" dirty="0">
                <a:solidFill>
                  <a:srgbClr val="FFFFFF"/>
                </a:solidFill>
              </a:rPr>
              <a:t>Automation Standards: What 'Good' Looks Like</a:t>
            </a:r>
            <a:endParaRPr lang="en-US" sz="2400" dirty="0"/>
          </a:p>
        </p:txBody>
      </p:sp>
      <p:sp>
        <p:nvSpPr>
          <p:cNvPr id="5" name="Shape 3"/>
          <p:cNvSpPr/>
          <p:nvPr/>
        </p:nvSpPr>
        <p:spPr>
          <a:xfrm>
            <a:off x="274320" y="1005840"/>
            <a:ext cx="2834640" cy="3840480"/>
          </a:xfrm>
          <a:prstGeom prst="rect">
            <a:avLst/>
          </a:prstGeom>
          <a:solidFill>
            <a:srgbClr val="1E2761"/>
          </a:solidFill>
          <a:ln w="12700">
            <a:solidFill>
              <a:srgbClr val="1E2761"/>
            </a:solidFill>
            <a:prstDash val="solid"/>
          </a:ln>
        </p:spPr>
      </p:sp>
      <p:sp>
        <p:nvSpPr>
          <p:cNvPr id="6" name="Text 4"/>
          <p:cNvSpPr/>
          <p:nvPr/>
        </p:nvSpPr>
        <p:spPr>
          <a:xfrm>
            <a:off x="274320" y="1051560"/>
            <a:ext cx="2834640" cy="731520"/>
          </a:xfrm>
          <a:prstGeom prst="rect">
            <a:avLst/>
          </a:prstGeom>
          <a:noFill/>
          <a:ln/>
        </p:spPr>
        <p:txBody>
          <a:bodyPr wrap="square" rtlCol="0" anchor="ctr"/>
          <a:lstStyle/>
          <a:p>
            <a:pPr algn="ctr" indent="0" marL="0">
              <a:buNone/>
            </a:pPr>
            <a:r>
              <a:rPr lang="en-US" sz="1600" b="1" dirty="0">
                <a:solidFill>
                  <a:srgbClr val="02C39A"/>
                </a:solidFill>
              </a:rPr>
              <a:t>Guiding</a:t>
            </a:r>
            <a:endParaRPr lang="en-US" sz="1600" dirty="0"/>
          </a:p>
          <a:p>
            <a:pPr algn="ctr" indent="0" marL="0">
              <a:buNone/>
            </a:pPr>
            <a:r>
              <a:rPr lang="en-US" sz="1600" b="1" dirty="0">
                <a:solidFill>
                  <a:srgbClr val="02C39A"/>
                </a:solidFill>
              </a:rPr>
              <a:t>Principle</a:t>
            </a:r>
            <a:endParaRPr lang="en-US" sz="1600" dirty="0"/>
          </a:p>
        </p:txBody>
      </p:sp>
      <p:sp>
        <p:nvSpPr>
          <p:cNvPr id="7" name="Shape 5"/>
          <p:cNvSpPr/>
          <p:nvPr/>
        </p:nvSpPr>
        <p:spPr>
          <a:xfrm>
            <a:off x="640080" y="1874520"/>
            <a:ext cx="2103120" cy="0"/>
          </a:xfrm>
          <a:prstGeom prst="line">
            <a:avLst/>
          </a:prstGeom>
          <a:noFill/>
          <a:ln w="12700">
            <a:solidFill>
              <a:srgbClr val="028090"/>
            </a:solidFill>
            <a:prstDash val="solid"/>
          </a:ln>
        </p:spPr>
      </p:sp>
      <p:sp>
        <p:nvSpPr>
          <p:cNvPr id="8" name="Text 6"/>
          <p:cNvSpPr/>
          <p:nvPr/>
        </p:nvSpPr>
        <p:spPr>
          <a:xfrm>
            <a:off x="365760" y="1993392"/>
            <a:ext cx="2651760" cy="1371600"/>
          </a:xfrm>
          <a:prstGeom prst="rect">
            <a:avLst/>
          </a:prstGeom>
          <a:noFill/>
          <a:ln/>
        </p:spPr>
        <p:txBody>
          <a:bodyPr wrap="square" rtlCol="0" anchor="ctr"/>
          <a:lstStyle/>
          <a:p>
            <a:pPr algn="ctr" indent="0" marL="0">
              <a:buNone/>
            </a:pPr>
            <a:r>
              <a:rPr lang="en-US" sz="1300" i="1" dirty="0">
                <a:solidFill>
                  <a:srgbClr val="CADCFC"/>
                </a:solidFill>
              </a:rPr>
              <a:t>"Consistency without</a:t>
            </a:r>
            <a:endParaRPr lang="en-US" sz="1300" dirty="0"/>
          </a:p>
          <a:p>
            <a:pPr algn="ctr" indent="0" marL="0">
              <a:buNone/>
            </a:pPr>
            <a:r>
              <a:rPr lang="en-US" sz="1300" i="1" dirty="0">
                <a:solidFill>
                  <a:srgbClr val="CADCFC"/>
                </a:solidFill>
              </a:rPr>
              <a:t>rigidity — regional</a:t>
            </a:r>
            <a:endParaRPr lang="en-US" sz="1300" dirty="0"/>
          </a:p>
          <a:p>
            <a:pPr algn="ctr" indent="0" marL="0">
              <a:buNone/>
            </a:pPr>
            <a:r>
              <a:rPr lang="en-US" sz="1300" i="1" dirty="0">
                <a:solidFill>
                  <a:srgbClr val="CADCFC"/>
                </a:solidFill>
              </a:rPr>
              <a:t>flexibility within</a:t>
            </a:r>
            <a:endParaRPr lang="en-US" sz="1300" dirty="0"/>
          </a:p>
          <a:p>
            <a:pPr algn="ctr" indent="0" marL="0">
              <a:buNone/>
            </a:pPr>
            <a:r>
              <a:rPr lang="en-US" sz="1300" i="1" dirty="0">
                <a:solidFill>
                  <a:srgbClr val="CADCFC"/>
                </a:solidFill>
              </a:rPr>
              <a:t>global guardrails."</a:t>
            </a:r>
            <a:endParaRPr lang="en-US" sz="1300" dirty="0"/>
          </a:p>
        </p:txBody>
      </p:sp>
      <p:sp>
        <p:nvSpPr>
          <p:cNvPr id="9" name="Text 7"/>
          <p:cNvSpPr/>
          <p:nvPr/>
        </p:nvSpPr>
        <p:spPr>
          <a:xfrm>
            <a:off x="365760" y="3474720"/>
            <a:ext cx="2651760" cy="1280160"/>
          </a:xfrm>
          <a:prstGeom prst="rect">
            <a:avLst/>
          </a:prstGeom>
          <a:noFill/>
          <a:ln/>
        </p:spPr>
        <p:txBody>
          <a:bodyPr wrap="square" rtlCol="0" anchor="ctr"/>
          <a:lstStyle/>
          <a:p>
            <a:pPr algn="ctr" indent="0" marL="0">
              <a:buNone/>
            </a:pPr>
            <a:r>
              <a:rPr lang="en-US" sz="1000" dirty="0">
                <a:solidFill>
                  <a:srgbClr val="E2E8F0"/>
                </a:solidFill>
              </a:rPr>
              <a:t>Standards are outcome-based, not prescriptive. Teams implement differently based on maturity and constraints—the outcomes remain consistent.</a:t>
            </a:r>
            <a:endParaRPr lang="en-US" sz="1000" dirty="0"/>
          </a:p>
        </p:txBody>
      </p:sp>
      <p:sp>
        <p:nvSpPr>
          <p:cNvPr id="10" name="Shape 8"/>
          <p:cNvSpPr/>
          <p:nvPr/>
        </p:nvSpPr>
        <p:spPr>
          <a:xfrm>
            <a:off x="3337560" y="1005840"/>
            <a:ext cx="1783080" cy="384048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11" name="Shape 9"/>
          <p:cNvSpPr/>
          <p:nvPr/>
        </p:nvSpPr>
        <p:spPr>
          <a:xfrm>
            <a:off x="3337560" y="1005840"/>
            <a:ext cx="1783080" cy="457200"/>
          </a:xfrm>
          <a:prstGeom prst="rect">
            <a:avLst/>
          </a:prstGeom>
          <a:solidFill>
            <a:srgbClr val="028090"/>
          </a:solidFill>
          <a:ln w="12700">
            <a:solidFill>
              <a:srgbClr val="028090"/>
            </a:solidFill>
            <a:prstDash val="solid"/>
          </a:ln>
        </p:spPr>
      </p:sp>
      <p:sp>
        <p:nvSpPr>
          <p:cNvPr id="12" name="Text 10"/>
          <p:cNvSpPr/>
          <p:nvPr/>
        </p:nvSpPr>
        <p:spPr>
          <a:xfrm>
            <a:off x="3337560" y="1005840"/>
            <a:ext cx="1783080" cy="457200"/>
          </a:xfrm>
          <a:prstGeom prst="rect">
            <a:avLst/>
          </a:prstGeom>
          <a:noFill/>
          <a:ln/>
        </p:spPr>
        <p:txBody>
          <a:bodyPr wrap="square" lIns="0" tIns="0" rIns="0" bIns="0" rtlCol="0" anchor="ctr"/>
          <a:lstStyle/>
          <a:p>
            <a:pPr algn="ctr" indent="0" marL="0">
              <a:buNone/>
            </a:pPr>
            <a:r>
              <a:rPr lang="en-US" sz="1300" b="1" dirty="0">
                <a:solidFill>
                  <a:srgbClr val="FFFFFF"/>
                </a:solidFill>
              </a:rPr>
              <a:t>Reliability</a:t>
            </a:r>
            <a:endParaRPr lang="en-US" sz="1300" dirty="0"/>
          </a:p>
        </p:txBody>
      </p:sp>
      <p:sp>
        <p:nvSpPr>
          <p:cNvPr id="13" name="Shape 11"/>
          <p:cNvSpPr/>
          <p:nvPr/>
        </p:nvSpPr>
        <p:spPr>
          <a:xfrm>
            <a:off x="3474720" y="1600200"/>
            <a:ext cx="164592" cy="164592"/>
          </a:xfrm>
          <a:prstGeom prst="ellipse">
            <a:avLst/>
          </a:prstGeom>
          <a:solidFill>
            <a:srgbClr val="028090"/>
          </a:solidFill>
          <a:ln w="12700">
            <a:solidFill>
              <a:srgbClr val="028090"/>
            </a:solidFill>
            <a:prstDash val="solid"/>
          </a:ln>
        </p:spPr>
      </p:sp>
      <p:sp>
        <p:nvSpPr>
          <p:cNvPr id="14" name="Text 12"/>
          <p:cNvSpPr/>
          <p:nvPr/>
        </p:nvSpPr>
        <p:spPr>
          <a:xfrm>
            <a:off x="3703320" y="1572768"/>
            <a:ext cx="1353312" cy="640080"/>
          </a:xfrm>
          <a:prstGeom prst="rect">
            <a:avLst/>
          </a:prstGeom>
          <a:noFill/>
          <a:ln/>
        </p:spPr>
        <p:txBody>
          <a:bodyPr wrap="square" rtlCol="0" anchor="t"/>
          <a:lstStyle/>
          <a:p>
            <a:pPr algn="l" indent="0" marL="0">
              <a:buNone/>
            </a:pPr>
            <a:r>
              <a:rPr lang="en-US" sz="1000" dirty="0">
                <a:solidFill>
                  <a:srgbClr val="1A202C"/>
                </a:solidFill>
              </a:rPr>
              <a:t>Automated testing requirements</a:t>
            </a:r>
            <a:endParaRPr lang="en-US" sz="1000" dirty="0"/>
          </a:p>
        </p:txBody>
      </p:sp>
      <p:sp>
        <p:nvSpPr>
          <p:cNvPr id="15" name="Shape 13"/>
          <p:cNvSpPr/>
          <p:nvPr/>
        </p:nvSpPr>
        <p:spPr>
          <a:xfrm>
            <a:off x="3474720" y="2423160"/>
            <a:ext cx="164592" cy="164592"/>
          </a:xfrm>
          <a:prstGeom prst="ellipse">
            <a:avLst/>
          </a:prstGeom>
          <a:solidFill>
            <a:srgbClr val="028090"/>
          </a:solidFill>
          <a:ln w="12700">
            <a:solidFill>
              <a:srgbClr val="028090"/>
            </a:solidFill>
            <a:prstDash val="solid"/>
          </a:ln>
        </p:spPr>
      </p:sp>
      <p:sp>
        <p:nvSpPr>
          <p:cNvPr id="16" name="Text 14"/>
          <p:cNvSpPr/>
          <p:nvPr/>
        </p:nvSpPr>
        <p:spPr>
          <a:xfrm>
            <a:off x="3703320" y="2395728"/>
            <a:ext cx="1353312" cy="640080"/>
          </a:xfrm>
          <a:prstGeom prst="rect">
            <a:avLst/>
          </a:prstGeom>
          <a:noFill/>
          <a:ln/>
        </p:spPr>
        <p:txBody>
          <a:bodyPr wrap="square" rtlCol="0" anchor="t"/>
          <a:lstStyle/>
          <a:p>
            <a:pPr algn="l" indent="0" marL="0">
              <a:buNone/>
            </a:pPr>
            <a:r>
              <a:rPr lang="en-US" sz="1000" dirty="0">
                <a:solidFill>
                  <a:srgbClr val="1A202C"/>
                </a:solidFill>
              </a:rPr>
              <a:t>Monitoring readiness at deploy</a:t>
            </a:r>
            <a:endParaRPr lang="en-US" sz="1000" dirty="0"/>
          </a:p>
        </p:txBody>
      </p:sp>
      <p:sp>
        <p:nvSpPr>
          <p:cNvPr id="17" name="Shape 15"/>
          <p:cNvSpPr/>
          <p:nvPr/>
        </p:nvSpPr>
        <p:spPr>
          <a:xfrm>
            <a:off x="3474720" y="3246120"/>
            <a:ext cx="164592" cy="164592"/>
          </a:xfrm>
          <a:prstGeom prst="ellipse">
            <a:avLst/>
          </a:prstGeom>
          <a:solidFill>
            <a:srgbClr val="028090"/>
          </a:solidFill>
          <a:ln w="12700">
            <a:solidFill>
              <a:srgbClr val="028090"/>
            </a:solidFill>
            <a:prstDash val="solid"/>
          </a:ln>
        </p:spPr>
      </p:sp>
      <p:sp>
        <p:nvSpPr>
          <p:cNvPr id="18" name="Text 16"/>
          <p:cNvSpPr/>
          <p:nvPr/>
        </p:nvSpPr>
        <p:spPr>
          <a:xfrm>
            <a:off x="3703320" y="3218688"/>
            <a:ext cx="1353312" cy="640080"/>
          </a:xfrm>
          <a:prstGeom prst="rect">
            <a:avLst/>
          </a:prstGeom>
          <a:noFill/>
          <a:ln/>
        </p:spPr>
        <p:txBody>
          <a:bodyPr wrap="square" rtlCol="0" anchor="t"/>
          <a:lstStyle/>
          <a:p>
            <a:pPr algn="l" indent="0" marL="0">
              <a:buNone/>
            </a:pPr>
            <a:r>
              <a:rPr lang="en-US" sz="1000" dirty="0">
                <a:solidFill>
                  <a:srgbClr val="1A202C"/>
                </a:solidFill>
              </a:rPr>
              <a:t>Failure detection &amp; alerting</a:t>
            </a:r>
            <a:endParaRPr lang="en-US" sz="1000" dirty="0"/>
          </a:p>
        </p:txBody>
      </p:sp>
      <p:sp>
        <p:nvSpPr>
          <p:cNvPr id="19" name="Shape 17"/>
          <p:cNvSpPr/>
          <p:nvPr/>
        </p:nvSpPr>
        <p:spPr>
          <a:xfrm>
            <a:off x="5257800" y="1005840"/>
            <a:ext cx="1783080" cy="384048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0" name="Shape 18"/>
          <p:cNvSpPr/>
          <p:nvPr/>
        </p:nvSpPr>
        <p:spPr>
          <a:xfrm>
            <a:off x="5257800" y="1005840"/>
            <a:ext cx="1783080" cy="457200"/>
          </a:xfrm>
          <a:prstGeom prst="rect">
            <a:avLst/>
          </a:prstGeom>
          <a:solidFill>
            <a:srgbClr val="028090"/>
          </a:solidFill>
          <a:ln w="12700">
            <a:solidFill>
              <a:srgbClr val="028090"/>
            </a:solidFill>
            <a:prstDash val="solid"/>
          </a:ln>
        </p:spPr>
      </p:sp>
      <p:sp>
        <p:nvSpPr>
          <p:cNvPr id="21" name="Text 19"/>
          <p:cNvSpPr/>
          <p:nvPr/>
        </p:nvSpPr>
        <p:spPr>
          <a:xfrm>
            <a:off x="5257800" y="1005840"/>
            <a:ext cx="1783080" cy="457200"/>
          </a:xfrm>
          <a:prstGeom prst="rect">
            <a:avLst/>
          </a:prstGeom>
          <a:noFill/>
          <a:ln/>
        </p:spPr>
        <p:txBody>
          <a:bodyPr wrap="square" lIns="0" tIns="0" rIns="0" bIns="0" rtlCol="0" anchor="ctr"/>
          <a:lstStyle/>
          <a:p>
            <a:pPr algn="ctr" indent="0" marL="0">
              <a:buNone/>
            </a:pPr>
            <a:r>
              <a:rPr lang="en-US" sz="1300" b="1" dirty="0">
                <a:solidFill>
                  <a:srgbClr val="FFFFFF"/>
                </a:solidFill>
              </a:rPr>
              <a:t>Governance</a:t>
            </a:r>
            <a:endParaRPr lang="en-US" sz="1300" dirty="0"/>
          </a:p>
        </p:txBody>
      </p:sp>
      <p:sp>
        <p:nvSpPr>
          <p:cNvPr id="22" name="Shape 20"/>
          <p:cNvSpPr/>
          <p:nvPr/>
        </p:nvSpPr>
        <p:spPr>
          <a:xfrm>
            <a:off x="5394960" y="1600200"/>
            <a:ext cx="164592" cy="164592"/>
          </a:xfrm>
          <a:prstGeom prst="ellipse">
            <a:avLst/>
          </a:prstGeom>
          <a:solidFill>
            <a:srgbClr val="028090"/>
          </a:solidFill>
          <a:ln w="12700">
            <a:solidFill>
              <a:srgbClr val="028090"/>
            </a:solidFill>
            <a:prstDash val="solid"/>
          </a:ln>
        </p:spPr>
      </p:sp>
      <p:sp>
        <p:nvSpPr>
          <p:cNvPr id="23" name="Text 21"/>
          <p:cNvSpPr/>
          <p:nvPr/>
        </p:nvSpPr>
        <p:spPr>
          <a:xfrm>
            <a:off x="5623560" y="1572768"/>
            <a:ext cx="1353312" cy="640080"/>
          </a:xfrm>
          <a:prstGeom prst="rect">
            <a:avLst/>
          </a:prstGeom>
          <a:noFill/>
          <a:ln/>
        </p:spPr>
        <p:txBody>
          <a:bodyPr wrap="square" rtlCol="0" anchor="t"/>
          <a:lstStyle/>
          <a:p>
            <a:pPr algn="l" indent="0" marL="0">
              <a:buNone/>
            </a:pPr>
            <a:r>
              <a:rPr lang="en-US" sz="1000" dirty="0">
                <a:solidFill>
                  <a:srgbClr val="1A202C"/>
                </a:solidFill>
              </a:rPr>
              <a:t>Auditability &amp; traceability</a:t>
            </a:r>
            <a:endParaRPr lang="en-US" sz="1000" dirty="0"/>
          </a:p>
        </p:txBody>
      </p:sp>
      <p:sp>
        <p:nvSpPr>
          <p:cNvPr id="24" name="Shape 22"/>
          <p:cNvSpPr/>
          <p:nvPr/>
        </p:nvSpPr>
        <p:spPr>
          <a:xfrm>
            <a:off x="5394960" y="2423160"/>
            <a:ext cx="164592" cy="164592"/>
          </a:xfrm>
          <a:prstGeom prst="ellipse">
            <a:avLst/>
          </a:prstGeom>
          <a:solidFill>
            <a:srgbClr val="028090"/>
          </a:solidFill>
          <a:ln w="12700">
            <a:solidFill>
              <a:srgbClr val="028090"/>
            </a:solidFill>
            <a:prstDash val="solid"/>
          </a:ln>
        </p:spPr>
      </p:sp>
      <p:sp>
        <p:nvSpPr>
          <p:cNvPr id="25" name="Text 23"/>
          <p:cNvSpPr/>
          <p:nvPr/>
        </p:nvSpPr>
        <p:spPr>
          <a:xfrm>
            <a:off x="5623560" y="2395728"/>
            <a:ext cx="1353312" cy="640080"/>
          </a:xfrm>
          <a:prstGeom prst="rect">
            <a:avLst/>
          </a:prstGeom>
          <a:noFill/>
          <a:ln/>
        </p:spPr>
        <p:txBody>
          <a:bodyPr wrap="square" rtlCol="0" anchor="t"/>
          <a:lstStyle/>
          <a:p>
            <a:pPr algn="l" indent="0" marL="0">
              <a:buNone/>
            </a:pPr>
            <a:r>
              <a:rPr lang="en-US" sz="1000" dirty="0">
                <a:solidFill>
                  <a:srgbClr val="1A202C"/>
                </a:solidFill>
              </a:rPr>
              <a:t>Approval gates where risk warrants</a:t>
            </a:r>
            <a:endParaRPr lang="en-US" sz="1000" dirty="0"/>
          </a:p>
        </p:txBody>
      </p:sp>
      <p:sp>
        <p:nvSpPr>
          <p:cNvPr id="26" name="Shape 24"/>
          <p:cNvSpPr/>
          <p:nvPr/>
        </p:nvSpPr>
        <p:spPr>
          <a:xfrm>
            <a:off x="5394960" y="3246120"/>
            <a:ext cx="164592" cy="164592"/>
          </a:xfrm>
          <a:prstGeom prst="ellipse">
            <a:avLst/>
          </a:prstGeom>
          <a:solidFill>
            <a:srgbClr val="028090"/>
          </a:solidFill>
          <a:ln w="12700">
            <a:solidFill>
              <a:srgbClr val="028090"/>
            </a:solidFill>
            <a:prstDash val="solid"/>
          </a:ln>
        </p:spPr>
      </p:sp>
      <p:sp>
        <p:nvSpPr>
          <p:cNvPr id="27" name="Text 25"/>
          <p:cNvSpPr/>
          <p:nvPr/>
        </p:nvSpPr>
        <p:spPr>
          <a:xfrm>
            <a:off x="5623560" y="3218688"/>
            <a:ext cx="1353312" cy="640080"/>
          </a:xfrm>
          <a:prstGeom prst="rect">
            <a:avLst/>
          </a:prstGeom>
          <a:noFill/>
          <a:ln/>
        </p:spPr>
        <p:txBody>
          <a:bodyPr wrap="square" rtlCol="0" anchor="t"/>
          <a:lstStyle/>
          <a:p>
            <a:pPr algn="l" indent="0" marL="0">
              <a:buNone/>
            </a:pPr>
            <a:r>
              <a:rPr lang="en-US" sz="1000" dirty="0">
                <a:solidFill>
                  <a:srgbClr val="1A202C"/>
                </a:solidFill>
              </a:rPr>
              <a:t>Exception documentation &amp; learning</a:t>
            </a:r>
            <a:endParaRPr lang="en-US" sz="1000" dirty="0"/>
          </a:p>
        </p:txBody>
      </p:sp>
      <p:sp>
        <p:nvSpPr>
          <p:cNvPr id="28" name="Shape 26"/>
          <p:cNvSpPr/>
          <p:nvPr/>
        </p:nvSpPr>
        <p:spPr>
          <a:xfrm>
            <a:off x="7178040" y="1005840"/>
            <a:ext cx="1783080" cy="384048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9" name="Shape 27"/>
          <p:cNvSpPr/>
          <p:nvPr/>
        </p:nvSpPr>
        <p:spPr>
          <a:xfrm>
            <a:off x="7178040" y="1005840"/>
            <a:ext cx="1783080" cy="457200"/>
          </a:xfrm>
          <a:prstGeom prst="rect">
            <a:avLst/>
          </a:prstGeom>
          <a:solidFill>
            <a:srgbClr val="028090"/>
          </a:solidFill>
          <a:ln w="12700">
            <a:solidFill>
              <a:srgbClr val="028090"/>
            </a:solidFill>
            <a:prstDash val="solid"/>
          </a:ln>
        </p:spPr>
      </p:sp>
      <p:sp>
        <p:nvSpPr>
          <p:cNvPr id="30" name="Text 28"/>
          <p:cNvSpPr/>
          <p:nvPr/>
        </p:nvSpPr>
        <p:spPr>
          <a:xfrm>
            <a:off x="7178040" y="1005840"/>
            <a:ext cx="1783080" cy="457200"/>
          </a:xfrm>
          <a:prstGeom prst="rect">
            <a:avLst/>
          </a:prstGeom>
          <a:noFill/>
          <a:ln/>
        </p:spPr>
        <p:txBody>
          <a:bodyPr wrap="square" lIns="0" tIns="0" rIns="0" bIns="0" rtlCol="0" anchor="ctr"/>
          <a:lstStyle/>
          <a:p>
            <a:pPr algn="ctr" indent="0" marL="0">
              <a:buNone/>
            </a:pPr>
            <a:r>
              <a:rPr lang="en-US" sz="1300" b="1" dirty="0">
                <a:solidFill>
                  <a:srgbClr val="FFFFFF"/>
                </a:solidFill>
              </a:rPr>
              <a:t>Scalability</a:t>
            </a:r>
            <a:endParaRPr lang="en-US" sz="1300" dirty="0"/>
          </a:p>
        </p:txBody>
      </p:sp>
      <p:sp>
        <p:nvSpPr>
          <p:cNvPr id="31" name="Shape 29"/>
          <p:cNvSpPr/>
          <p:nvPr/>
        </p:nvSpPr>
        <p:spPr>
          <a:xfrm>
            <a:off x="7315200" y="1600200"/>
            <a:ext cx="164592" cy="164592"/>
          </a:xfrm>
          <a:prstGeom prst="ellipse">
            <a:avLst/>
          </a:prstGeom>
          <a:solidFill>
            <a:srgbClr val="028090"/>
          </a:solidFill>
          <a:ln w="12700">
            <a:solidFill>
              <a:srgbClr val="028090"/>
            </a:solidFill>
            <a:prstDash val="solid"/>
          </a:ln>
        </p:spPr>
      </p:sp>
      <p:sp>
        <p:nvSpPr>
          <p:cNvPr id="32" name="Text 30"/>
          <p:cNvSpPr/>
          <p:nvPr/>
        </p:nvSpPr>
        <p:spPr>
          <a:xfrm>
            <a:off x="7543800" y="1572768"/>
            <a:ext cx="1353312" cy="640080"/>
          </a:xfrm>
          <a:prstGeom prst="rect">
            <a:avLst/>
          </a:prstGeom>
          <a:noFill/>
          <a:ln/>
        </p:spPr>
        <p:txBody>
          <a:bodyPr wrap="square" rtlCol="0" anchor="t"/>
          <a:lstStyle/>
          <a:p>
            <a:pPr algn="l" indent="0" marL="0">
              <a:buNone/>
            </a:pPr>
            <a:r>
              <a:rPr lang="en-US" sz="1000" dirty="0">
                <a:solidFill>
                  <a:srgbClr val="1A202C"/>
                </a:solidFill>
              </a:rPr>
              <a:t>Reusable reference patterns</a:t>
            </a:r>
            <a:endParaRPr lang="en-US" sz="1000" dirty="0"/>
          </a:p>
        </p:txBody>
      </p:sp>
      <p:sp>
        <p:nvSpPr>
          <p:cNvPr id="33" name="Shape 31"/>
          <p:cNvSpPr/>
          <p:nvPr/>
        </p:nvSpPr>
        <p:spPr>
          <a:xfrm>
            <a:off x="7315200" y="2423160"/>
            <a:ext cx="164592" cy="164592"/>
          </a:xfrm>
          <a:prstGeom prst="ellipse">
            <a:avLst/>
          </a:prstGeom>
          <a:solidFill>
            <a:srgbClr val="028090"/>
          </a:solidFill>
          <a:ln w="12700">
            <a:solidFill>
              <a:srgbClr val="028090"/>
            </a:solidFill>
            <a:prstDash val="solid"/>
          </a:ln>
        </p:spPr>
      </p:sp>
      <p:sp>
        <p:nvSpPr>
          <p:cNvPr id="34" name="Text 32"/>
          <p:cNvSpPr/>
          <p:nvPr/>
        </p:nvSpPr>
        <p:spPr>
          <a:xfrm>
            <a:off x="7543800" y="2395728"/>
            <a:ext cx="1353312" cy="640080"/>
          </a:xfrm>
          <a:prstGeom prst="rect">
            <a:avLst/>
          </a:prstGeom>
          <a:noFill/>
          <a:ln/>
        </p:spPr>
        <p:txBody>
          <a:bodyPr wrap="square" rtlCol="0" anchor="t"/>
          <a:lstStyle/>
          <a:p>
            <a:pPr algn="l" indent="0" marL="0">
              <a:buNone/>
            </a:pPr>
            <a:r>
              <a:rPr lang="en-US" sz="1000" dirty="0">
                <a:solidFill>
                  <a:srgbClr val="1A202C"/>
                </a:solidFill>
              </a:rPr>
              <a:t>Documentation standards</a:t>
            </a:r>
            <a:endParaRPr lang="en-US" sz="1000" dirty="0"/>
          </a:p>
        </p:txBody>
      </p:sp>
      <p:sp>
        <p:nvSpPr>
          <p:cNvPr id="35" name="Shape 33"/>
          <p:cNvSpPr/>
          <p:nvPr/>
        </p:nvSpPr>
        <p:spPr>
          <a:xfrm>
            <a:off x="7315200" y="3246120"/>
            <a:ext cx="164592" cy="164592"/>
          </a:xfrm>
          <a:prstGeom prst="ellipse">
            <a:avLst/>
          </a:prstGeom>
          <a:solidFill>
            <a:srgbClr val="028090"/>
          </a:solidFill>
          <a:ln w="12700">
            <a:solidFill>
              <a:srgbClr val="028090"/>
            </a:solidFill>
            <a:prstDash val="solid"/>
          </a:ln>
        </p:spPr>
      </p:sp>
      <p:sp>
        <p:nvSpPr>
          <p:cNvPr id="36" name="Text 34"/>
          <p:cNvSpPr/>
          <p:nvPr/>
        </p:nvSpPr>
        <p:spPr>
          <a:xfrm>
            <a:off x="7543800" y="3218688"/>
            <a:ext cx="1353312" cy="640080"/>
          </a:xfrm>
          <a:prstGeom prst="rect">
            <a:avLst/>
          </a:prstGeom>
          <a:noFill/>
          <a:ln/>
        </p:spPr>
        <p:txBody>
          <a:bodyPr wrap="square" rtlCol="0" anchor="t"/>
          <a:lstStyle/>
          <a:p>
            <a:pPr algn="l" indent="0" marL="0">
              <a:buNone/>
            </a:pPr>
            <a:r>
              <a:rPr lang="en-US" sz="1000" dirty="0">
                <a:solidFill>
                  <a:srgbClr val="1A202C"/>
                </a:solidFill>
              </a:rPr>
              <a:t>Platform alignment &amp; portability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400" b="1" dirty="0">
                <a:solidFill>
                  <a:srgbClr val="FFFFFF"/>
                </a:solidFill>
              </a:rPr>
              <a:t>Standards in Practice: Federated Operating Model</a:t>
            </a:r>
            <a:endParaRPr lang="en-US" sz="2400" dirty="0"/>
          </a:p>
        </p:txBody>
      </p:sp>
      <p:sp>
        <p:nvSpPr>
          <p:cNvPr id="5" name="Shape 3"/>
          <p:cNvSpPr/>
          <p:nvPr/>
        </p:nvSpPr>
        <p:spPr>
          <a:xfrm>
            <a:off x="3474720" y="1051560"/>
            <a:ext cx="2194560" cy="914400"/>
          </a:xfrm>
          <a:prstGeom prst="ellipse">
            <a:avLst/>
          </a:prstGeom>
          <a:solidFill>
            <a:srgbClr val="1E2761"/>
          </a:solidFill>
          <a:ln w="25400">
            <a:solidFill>
              <a:srgbClr val="028090"/>
            </a:solidFill>
            <a:prstDash val="solid"/>
          </a:ln>
        </p:spPr>
      </p:sp>
      <p:sp>
        <p:nvSpPr>
          <p:cNvPr id="6" name="Text 4"/>
          <p:cNvSpPr/>
          <p:nvPr/>
        </p:nvSpPr>
        <p:spPr>
          <a:xfrm>
            <a:off x="3474720" y="1051560"/>
            <a:ext cx="2194560" cy="914400"/>
          </a:xfrm>
          <a:prstGeom prst="rect">
            <a:avLst/>
          </a:prstGeom>
          <a:noFill/>
          <a:ln/>
        </p:spPr>
        <p:txBody>
          <a:bodyPr wrap="square" rtlCol="0" anchor="ctr"/>
          <a:lstStyle/>
          <a:p>
            <a:pPr algn="ctr" indent="0" marL="0">
              <a:buNone/>
            </a:pPr>
            <a:r>
              <a:rPr lang="en-US" sz="1200" b="1" dirty="0">
                <a:solidFill>
                  <a:srgbClr val="FFFFFF"/>
                </a:solidFill>
              </a:rPr>
              <a:t>Global COE</a:t>
            </a:r>
            <a:endParaRPr lang="en-US" sz="1200" dirty="0"/>
          </a:p>
          <a:p>
            <a:pPr algn="ctr" indent="0" marL="0">
              <a:buNone/>
            </a:pPr>
            <a:r>
              <a:rPr lang="en-US" sz="1200" b="1" dirty="0">
                <a:solidFill>
                  <a:srgbClr val="FFFFFF"/>
                </a:solidFill>
              </a:rPr>
              <a:t>Guardrails</a:t>
            </a:r>
            <a:endParaRPr lang="en-US" sz="1200" dirty="0"/>
          </a:p>
        </p:txBody>
      </p:sp>
      <p:sp>
        <p:nvSpPr>
          <p:cNvPr id="7" name="Shape 5"/>
          <p:cNvSpPr/>
          <p:nvPr/>
        </p:nvSpPr>
        <p:spPr>
          <a:xfrm>
            <a:off x="4572000" y="1965960"/>
            <a:ext cx="-3337560" cy="868680"/>
          </a:xfrm>
          <a:prstGeom prst="line">
            <a:avLst/>
          </a:prstGeom>
          <a:noFill/>
          <a:ln w="12700">
            <a:solidFill>
              <a:srgbClr val="028090"/>
            </a:solidFill>
            <a:prstDash val="dash"/>
          </a:ln>
        </p:spPr>
      </p:sp>
      <p:sp>
        <p:nvSpPr>
          <p:cNvPr id="8" name="Shape 6"/>
          <p:cNvSpPr/>
          <p:nvPr/>
        </p:nvSpPr>
        <p:spPr>
          <a:xfrm>
            <a:off x="457200" y="2834640"/>
            <a:ext cx="1554480" cy="685800"/>
          </a:xfrm>
          <a:prstGeom prst="ellipse">
            <a:avLst/>
          </a:prstGeom>
          <a:solidFill>
            <a:srgbClr val="CADCFC"/>
          </a:solidFill>
          <a:ln w="12700">
            <a:solidFill>
              <a:srgbClr val="1E2761"/>
            </a:solidFill>
            <a:prstDash val="solid"/>
          </a:ln>
        </p:spPr>
      </p:sp>
      <p:sp>
        <p:nvSpPr>
          <p:cNvPr id="9" name="Text 7"/>
          <p:cNvSpPr/>
          <p:nvPr/>
        </p:nvSpPr>
        <p:spPr>
          <a:xfrm>
            <a:off x="457200" y="2834640"/>
            <a:ext cx="1554480" cy="685800"/>
          </a:xfrm>
          <a:prstGeom prst="rect">
            <a:avLst/>
          </a:prstGeom>
          <a:noFill/>
          <a:ln/>
        </p:spPr>
        <p:txBody>
          <a:bodyPr wrap="square" rtlCol="0" anchor="ctr"/>
          <a:lstStyle/>
          <a:p>
            <a:pPr algn="ctr" indent="0" marL="0">
              <a:buNone/>
            </a:pPr>
            <a:r>
              <a:rPr lang="en-US" sz="1000" b="1" dirty="0">
                <a:solidFill>
                  <a:srgbClr val="1E2761"/>
                </a:solidFill>
              </a:rPr>
              <a:t>Americas</a:t>
            </a:r>
            <a:endParaRPr lang="en-US" sz="1000" dirty="0"/>
          </a:p>
        </p:txBody>
      </p:sp>
      <p:sp>
        <p:nvSpPr>
          <p:cNvPr id="10" name="Shape 8"/>
          <p:cNvSpPr/>
          <p:nvPr/>
        </p:nvSpPr>
        <p:spPr>
          <a:xfrm>
            <a:off x="4572000" y="1965960"/>
            <a:ext cx="-1325880" cy="868680"/>
          </a:xfrm>
          <a:prstGeom prst="line">
            <a:avLst/>
          </a:prstGeom>
          <a:noFill/>
          <a:ln w="12700">
            <a:solidFill>
              <a:srgbClr val="028090"/>
            </a:solidFill>
            <a:prstDash val="dash"/>
          </a:ln>
        </p:spPr>
      </p:sp>
      <p:sp>
        <p:nvSpPr>
          <p:cNvPr id="11" name="Shape 9"/>
          <p:cNvSpPr/>
          <p:nvPr/>
        </p:nvSpPr>
        <p:spPr>
          <a:xfrm>
            <a:off x="2468880" y="2834640"/>
            <a:ext cx="1554480" cy="685800"/>
          </a:xfrm>
          <a:prstGeom prst="ellipse">
            <a:avLst/>
          </a:prstGeom>
          <a:solidFill>
            <a:srgbClr val="CADCFC"/>
          </a:solidFill>
          <a:ln w="12700">
            <a:solidFill>
              <a:srgbClr val="1E2761"/>
            </a:solidFill>
            <a:prstDash val="solid"/>
          </a:ln>
        </p:spPr>
      </p:sp>
      <p:sp>
        <p:nvSpPr>
          <p:cNvPr id="12" name="Text 10"/>
          <p:cNvSpPr/>
          <p:nvPr/>
        </p:nvSpPr>
        <p:spPr>
          <a:xfrm>
            <a:off x="2468880" y="2834640"/>
            <a:ext cx="1554480" cy="685800"/>
          </a:xfrm>
          <a:prstGeom prst="rect">
            <a:avLst/>
          </a:prstGeom>
          <a:noFill/>
          <a:ln/>
        </p:spPr>
        <p:txBody>
          <a:bodyPr wrap="square" rtlCol="0" anchor="ctr"/>
          <a:lstStyle/>
          <a:p>
            <a:pPr algn="ctr" indent="0" marL="0">
              <a:buNone/>
            </a:pPr>
            <a:r>
              <a:rPr lang="en-US" sz="1000" b="1" dirty="0">
                <a:solidFill>
                  <a:srgbClr val="1E2761"/>
                </a:solidFill>
              </a:rPr>
              <a:t>EMEA</a:t>
            </a:r>
            <a:endParaRPr lang="en-US" sz="1000" dirty="0"/>
          </a:p>
        </p:txBody>
      </p:sp>
      <p:sp>
        <p:nvSpPr>
          <p:cNvPr id="13" name="Shape 11"/>
          <p:cNvSpPr/>
          <p:nvPr/>
        </p:nvSpPr>
        <p:spPr>
          <a:xfrm>
            <a:off x="4572000" y="1965960"/>
            <a:ext cx="777240" cy="868680"/>
          </a:xfrm>
          <a:prstGeom prst="line">
            <a:avLst/>
          </a:prstGeom>
          <a:noFill/>
          <a:ln w="12700">
            <a:solidFill>
              <a:srgbClr val="028090"/>
            </a:solidFill>
            <a:prstDash val="dash"/>
          </a:ln>
        </p:spPr>
      </p:sp>
      <p:sp>
        <p:nvSpPr>
          <p:cNvPr id="14" name="Shape 12"/>
          <p:cNvSpPr/>
          <p:nvPr/>
        </p:nvSpPr>
        <p:spPr>
          <a:xfrm>
            <a:off x="4572000" y="2834640"/>
            <a:ext cx="1554480" cy="685800"/>
          </a:xfrm>
          <a:prstGeom prst="ellipse">
            <a:avLst/>
          </a:prstGeom>
          <a:solidFill>
            <a:srgbClr val="CADCFC"/>
          </a:solidFill>
          <a:ln w="12700">
            <a:solidFill>
              <a:srgbClr val="1E2761"/>
            </a:solidFill>
            <a:prstDash val="solid"/>
          </a:ln>
        </p:spPr>
      </p:sp>
      <p:sp>
        <p:nvSpPr>
          <p:cNvPr id="15" name="Text 13"/>
          <p:cNvSpPr/>
          <p:nvPr/>
        </p:nvSpPr>
        <p:spPr>
          <a:xfrm>
            <a:off x="4572000" y="2834640"/>
            <a:ext cx="1554480" cy="685800"/>
          </a:xfrm>
          <a:prstGeom prst="rect">
            <a:avLst/>
          </a:prstGeom>
          <a:noFill/>
          <a:ln/>
        </p:spPr>
        <p:txBody>
          <a:bodyPr wrap="square" rtlCol="0" anchor="ctr"/>
          <a:lstStyle/>
          <a:p>
            <a:pPr algn="ctr" indent="0" marL="0">
              <a:buNone/>
            </a:pPr>
            <a:r>
              <a:rPr lang="en-US" sz="1000" b="1" dirty="0">
                <a:solidFill>
                  <a:srgbClr val="1E2761"/>
                </a:solidFill>
              </a:rPr>
              <a:t>Asia (ex-JP)</a:t>
            </a:r>
            <a:endParaRPr lang="en-US" sz="1000" dirty="0"/>
          </a:p>
        </p:txBody>
      </p:sp>
      <p:sp>
        <p:nvSpPr>
          <p:cNvPr id="16" name="Shape 14"/>
          <p:cNvSpPr/>
          <p:nvPr/>
        </p:nvSpPr>
        <p:spPr>
          <a:xfrm>
            <a:off x="4572000" y="1965960"/>
            <a:ext cx="2880360" cy="868680"/>
          </a:xfrm>
          <a:prstGeom prst="line">
            <a:avLst/>
          </a:prstGeom>
          <a:noFill/>
          <a:ln w="12700">
            <a:solidFill>
              <a:srgbClr val="028090"/>
            </a:solidFill>
            <a:prstDash val="dash"/>
          </a:ln>
        </p:spPr>
      </p:sp>
      <p:sp>
        <p:nvSpPr>
          <p:cNvPr id="17" name="Shape 15"/>
          <p:cNvSpPr/>
          <p:nvPr/>
        </p:nvSpPr>
        <p:spPr>
          <a:xfrm>
            <a:off x="6675120" y="2834640"/>
            <a:ext cx="1554480" cy="685800"/>
          </a:xfrm>
          <a:prstGeom prst="ellipse">
            <a:avLst/>
          </a:prstGeom>
          <a:solidFill>
            <a:srgbClr val="CADCFC"/>
          </a:solidFill>
          <a:ln w="12700">
            <a:solidFill>
              <a:srgbClr val="1E2761"/>
            </a:solidFill>
            <a:prstDash val="solid"/>
          </a:ln>
        </p:spPr>
      </p:sp>
      <p:sp>
        <p:nvSpPr>
          <p:cNvPr id="18" name="Text 16"/>
          <p:cNvSpPr/>
          <p:nvPr/>
        </p:nvSpPr>
        <p:spPr>
          <a:xfrm>
            <a:off x="6675120" y="2834640"/>
            <a:ext cx="1554480" cy="685800"/>
          </a:xfrm>
          <a:prstGeom prst="rect">
            <a:avLst/>
          </a:prstGeom>
          <a:noFill/>
          <a:ln/>
        </p:spPr>
        <p:txBody>
          <a:bodyPr wrap="square" rtlCol="0" anchor="ctr"/>
          <a:lstStyle/>
          <a:p>
            <a:pPr algn="ctr" indent="0" marL="0">
              <a:buNone/>
            </a:pPr>
            <a:r>
              <a:rPr lang="en-US" sz="1000" b="1" dirty="0">
                <a:solidFill>
                  <a:srgbClr val="1E2761"/>
                </a:solidFill>
              </a:rPr>
              <a:t>Japan</a:t>
            </a:r>
            <a:endParaRPr lang="en-US" sz="1000" dirty="0"/>
          </a:p>
        </p:txBody>
      </p:sp>
      <p:sp>
        <p:nvSpPr>
          <p:cNvPr id="19" name="Shape 17"/>
          <p:cNvSpPr/>
          <p:nvPr/>
        </p:nvSpPr>
        <p:spPr>
          <a:xfrm>
            <a:off x="365760" y="3749040"/>
            <a:ext cx="265176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0" name="Shape 18"/>
          <p:cNvSpPr/>
          <p:nvPr/>
        </p:nvSpPr>
        <p:spPr>
          <a:xfrm>
            <a:off x="365760" y="3749040"/>
            <a:ext cx="91440" cy="1188720"/>
          </a:xfrm>
          <a:prstGeom prst="rect">
            <a:avLst/>
          </a:prstGeom>
          <a:solidFill>
            <a:srgbClr val="F0A500"/>
          </a:solidFill>
          <a:ln w="12700">
            <a:solidFill>
              <a:srgbClr val="F0A500"/>
            </a:solidFill>
            <a:prstDash val="solid"/>
          </a:ln>
        </p:spPr>
      </p:sp>
      <p:sp>
        <p:nvSpPr>
          <p:cNvPr id="21" name="Text 19"/>
          <p:cNvSpPr/>
          <p:nvPr/>
        </p:nvSpPr>
        <p:spPr>
          <a:xfrm>
            <a:off x="548640" y="3794760"/>
            <a:ext cx="2377440" cy="365760"/>
          </a:xfrm>
          <a:prstGeom prst="rect">
            <a:avLst/>
          </a:prstGeom>
          <a:noFill/>
          <a:ln/>
        </p:spPr>
        <p:txBody>
          <a:bodyPr wrap="square" rtlCol="0" anchor="ctr"/>
          <a:lstStyle/>
          <a:p>
            <a:pPr indent="0" marL="0">
              <a:buNone/>
            </a:pPr>
            <a:r>
              <a:rPr lang="en-US" sz="1100" b="1" dirty="0">
                <a:solidFill>
                  <a:srgbClr val="1E2761"/>
                </a:solidFill>
              </a:rPr>
              <a:t>Lightweight Reviews</a:t>
            </a:r>
            <a:endParaRPr lang="en-US" sz="1100" dirty="0"/>
          </a:p>
        </p:txBody>
      </p:sp>
      <p:sp>
        <p:nvSpPr>
          <p:cNvPr id="22" name="Text 20"/>
          <p:cNvSpPr/>
          <p:nvPr/>
        </p:nvSpPr>
        <p:spPr>
          <a:xfrm>
            <a:off x="548640" y="4160520"/>
            <a:ext cx="2377440" cy="685800"/>
          </a:xfrm>
          <a:prstGeom prst="rect">
            <a:avLst/>
          </a:prstGeom>
          <a:noFill/>
          <a:ln/>
        </p:spPr>
        <p:txBody>
          <a:bodyPr wrap="square" rtlCol="0" anchor="ctr"/>
          <a:lstStyle/>
          <a:p>
            <a:pPr indent="0" marL="0">
              <a:buNone/>
            </a:pPr>
            <a:r>
              <a:rPr lang="en-US" sz="1000" dirty="0">
                <a:solidFill>
                  <a:srgbClr val="4A5568"/>
                </a:solidFill>
              </a:rPr>
              <a:t>Touchpoints at design &amp; release gates only where risk warrants it</a:t>
            </a:r>
            <a:endParaRPr lang="en-US" sz="1000" dirty="0"/>
          </a:p>
        </p:txBody>
      </p:sp>
      <p:sp>
        <p:nvSpPr>
          <p:cNvPr id="23" name="Shape 21"/>
          <p:cNvSpPr/>
          <p:nvPr/>
        </p:nvSpPr>
        <p:spPr>
          <a:xfrm>
            <a:off x="3291840" y="3749040"/>
            <a:ext cx="265176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4" name="Shape 22"/>
          <p:cNvSpPr/>
          <p:nvPr/>
        </p:nvSpPr>
        <p:spPr>
          <a:xfrm>
            <a:off x="3291840" y="3749040"/>
            <a:ext cx="91440" cy="1188720"/>
          </a:xfrm>
          <a:prstGeom prst="rect">
            <a:avLst/>
          </a:prstGeom>
          <a:solidFill>
            <a:srgbClr val="F0A500"/>
          </a:solidFill>
          <a:ln w="12700">
            <a:solidFill>
              <a:srgbClr val="F0A500"/>
            </a:solidFill>
            <a:prstDash val="solid"/>
          </a:ln>
        </p:spPr>
      </p:sp>
      <p:sp>
        <p:nvSpPr>
          <p:cNvPr id="25" name="Text 23"/>
          <p:cNvSpPr/>
          <p:nvPr/>
        </p:nvSpPr>
        <p:spPr>
          <a:xfrm>
            <a:off x="3474720" y="3794760"/>
            <a:ext cx="2377440" cy="365760"/>
          </a:xfrm>
          <a:prstGeom prst="rect">
            <a:avLst/>
          </a:prstGeom>
          <a:noFill/>
          <a:ln/>
        </p:spPr>
        <p:txBody>
          <a:bodyPr wrap="square" rtlCol="0" anchor="ctr"/>
          <a:lstStyle/>
          <a:p>
            <a:pPr indent="0" marL="0">
              <a:buNone/>
            </a:pPr>
            <a:r>
              <a:rPr lang="en-US" sz="1100" b="1" dirty="0">
                <a:solidFill>
                  <a:srgbClr val="1E2761"/>
                </a:solidFill>
              </a:rPr>
              <a:t>Documented Exceptions</a:t>
            </a:r>
            <a:endParaRPr lang="en-US" sz="1100" dirty="0"/>
          </a:p>
        </p:txBody>
      </p:sp>
      <p:sp>
        <p:nvSpPr>
          <p:cNvPr id="26" name="Text 24"/>
          <p:cNvSpPr/>
          <p:nvPr/>
        </p:nvSpPr>
        <p:spPr>
          <a:xfrm>
            <a:off x="3474720" y="4160520"/>
            <a:ext cx="2377440" cy="685800"/>
          </a:xfrm>
          <a:prstGeom prst="rect">
            <a:avLst/>
          </a:prstGeom>
          <a:noFill/>
          <a:ln/>
        </p:spPr>
        <p:txBody>
          <a:bodyPr wrap="square" rtlCol="0" anchor="ctr"/>
          <a:lstStyle/>
          <a:p>
            <a:pPr indent="0" marL="0">
              <a:buNone/>
            </a:pPr>
            <a:r>
              <a:rPr lang="en-US" sz="1000" dirty="0">
                <a:solidFill>
                  <a:srgbClr val="4A5568"/>
                </a:solidFill>
              </a:rPr>
              <a:t>Deviations expected and captured as learning—not treated as failures</a:t>
            </a:r>
            <a:endParaRPr lang="en-US" sz="1000" dirty="0"/>
          </a:p>
        </p:txBody>
      </p:sp>
      <p:sp>
        <p:nvSpPr>
          <p:cNvPr id="27" name="Shape 25"/>
          <p:cNvSpPr/>
          <p:nvPr/>
        </p:nvSpPr>
        <p:spPr>
          <a:xfrm>
            <a:off x="6217920" y="3749040"/>
            <a:ext cx="265176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7000"/>
              </a:srgbClr>
            </a:outerShdw>
          </a:effectLst>
        </p:spPr>
      </p:sp>
      <p:sp>
        <p:nvSpPr>
          <p:cNvPr id="28" name="Shape 26"/>
          <p:cNvSpPr/>
          <p:nvPr/>
        </p:nvSpPr>
        <p:spPr>
          <a:xfrm>
            <a:off x="6217920" y="3749040"/>
            <a:ext cx="91440" cy="1188720"/>
          </a:xfrm>
          <a:prstGeom prst="rect">
            <a:avLst/>
          </a:prstGeom>
          <a:solidFill>
            <a:srgbClr val="F0A500"/>
          </a:solidFill>
          <a:ln w="12700">
            <a:solidFill>
              <a:srgbClr val="F0A500"/>
            </a:solidFill>
            <a:prstDash val="solid"/>
          </a:ln>
        </p:spPr>
      </p:sp>
      <p:sp>
        <p:nvSpPr>
          <p:cNvPr id="29" name="Text 27"/>
          <p:cNvSpPr/>
          <p:nvPr/>
        </p:nvSpPr>
        <p:spPr>
          <a:xfrm>
            <a:off x="6400800" y="3794760"/>
            <a:ext cx="2377440" cy="365760"/>
          </a:xfrm>
          <a:prstGeom prst="rect">
            <a:avLst/>
          </a:prstGeom>
          <a:noFill/>
          <a:ln/>
        </p:spPr>
        <p:txBody>
          <a:bodyPr wrap="square" rtlCol="0" anchor="ctr"/>
          <a:lstStyle/>
          <a:p>
            <a:pPr indent="0" marL="0">
              <a:buNone/>
            </a:pPr>
            <a:r>
              <a:rPr lang="en-US" sz="1100" b="1" dirty="0">
                <a:solidFill>
                  <a:srgbClr val="1E2761"/>
                </a:solidFill>
              </a:rPr>
              <a:t>Continuous Evolution</a:t>
            </a:r>
            <a:endParaRPr lang="en-US" sz="1100" dirty="0"/>
          </a:p>
        </p:txBody>
      </p:sp>
      <p:sp>
        <p:nvSpPr>
          <p:cNvPr id="30" name="Text 28"/>
          <p:cNvSpPr/>
          <p:nvPr/>
        </p:nvSpPr>
        <p:spPr>
          <a:xfrm>
            <a:off x="6400800" y="4160520"/>
            <a:ext cx="2377440" cy="685800"/>
          </a:xfrm>
          <a:prstGeom prst="rect">
            <a:avLst/>
          </a:prstGeom>
          <a:noFill/>
          <a:ln/>
        </p:spPr>
        <p:txBody>
          <a:bodyPr wrap="square" rtlCol="0" anchor="ctr"/>
          <a:lstStyle/>
          <a:p>
            <a:pPr indent="0" marL="0">
              <a:buNone/>
            </a:pPr>
            <a:r>
              <a:rPr lang="en-US" sz="1000" dirty="0">
                <a:solidFill>
                  <a:srgbClr val="4A5568"/>
                </a:solidFill>
              </a:rPr>
              <a:t>Standards updated via CoP feedback and regional insights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400" b="1" dirty="0">
                <a:solidFill>
                  <a:srgbClr val="FFFFFF"/>
                </a:solidFill>
              </a:rPr>
              <a:t>Automation Enablement Plan: Accelerating Adoption</a:t>
            </a:r>
            <a:endParaRPr lang="en-US" sz="2400" dirty="0"/>
          </a:p>
        </p:txBody>
      </p:sp>
      <p:sp>
        <p:nvSpPr>
          <p:cNvPr id="5" name="Shape 3"/>
          <p:cNvSpPr/>
          <p:nvPr/>
        </p:nvSpPr>
        <p:spPr>
          <a:xfrm>
            <a:off x="228600" y="1051560"/>
            <a:ext cx="2057400" cy="35204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6" name="Shape 4"/>
          <p:cNvSpPr/>
          <p:nvPr/>
        </p:nvSpPr>
        <p:spPr>
          <a:xfrm>
            <a:off x="960120" y="1188720"/>
            <a:ext cx="594360" cy="594360"/>
          </a:xfrm>
          <a:prstGeom prst="ellipse">
            <a:avLst/>
          </a:prstGeom>
          <a:solidFill>
            <a:srgbClr val="028090"/>
          </a:solidFill>
          <a:ln w="12700">
            <a:solidFill>
              <a:srgbClr val="028090"/>
            </a:solidFill>
            <a:prstDash val="solid"/>
          </a:ln>
        </p:spPr>
      </p:sp>
      <p:sp>
        <p:nvSpPr>
          <p:cNvPr id="7" name="Text 5"/>
          <p:cNvSpPr/>
          <p:nvPr/>
        </p:nvSpPr>
        <p:spPr>
          <a:xfrm>
            <a:off x="96012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338328" y="1920240"/>
            <a:ext cx="1828800" cy="548640"/>
          </a:xfrm>
          <a:prstGeom prst="rect">
            <a:avLst/>
          </a:prstGeom>
          <a:noFill/>
          <a:ln/>
        </p:spPr>
        <p:txBody>
          <a:bodyPr wrap="square" rtlCol="0" anchor="ctr"/>
          <a:lstStyle/>
          <a:p>
            <a:pPr algn="ctr" indent="0" marL="0">
              <a:buNone/>
            </a:pPr>
            <a:r>
              <a:rPr lang="en-US" sz="1100" b="1" dirty="0">
                <a:solidFill>
                  <a:srgbClr val="1E2761"/>
                </a:solidFill>
              </a:rPr>
              <a:t>Structured Onboarding</a:t>
            </a:r>
            <a:endParaRPr lang="en-US" sz="1100" dirty="0"/>
          </a:p>
        </p:txBody>
      </p:sp>
      <p:sp>
        <p:nvSpPr>
          <p:cNvPr id="9" name="Text 7"/>
          <p:cNvSpPr/>
          <p:nvPr/>
        </p:nvSpPr>
        <p:spPr>
          <a:xfrm>
            <a:off x="365760" y="2560320"/>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Starter guide + first automation journey</a:t>
            </a:r>
            <a:endParaRPr lang="en-US" sz="950" dirty="0"/>
          </a:p>
        </p:txBody>
      </p:sp>
      <p:sp>
        <p:nvSpPr>
          <p:cNvPr id="10" name="Text 8"/>
          <p:cNvSpPr/>
          <p:nvPr/>
        </p:nvSpPr>
        <p:spPr>
          <a:xfrm>
            <a:off x="365760" y="3035808"/>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Role-based training tracks</a:t>
            </a:r>
            <a:endParaRPr lang="en-US" sz="950" dirty="0"/>
          </a:p>
        </p:txBody>
      </p:sp>
      <p:sp>
        <p:nvSpPr>
          <p:cNvPr id="11" name="Text 9"/>
          <p:cNvSpPr/>
          <p:nvPr/>
        </p:nvSpPr>
        <p:spPr>
          <a:xfrm>
            <a:off x="365760" y="3511296"/>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Baseline standards walkthrough</a:t>
            </a:r>
            <a:endParaRPr lang="en-US" sz="950" dirty="0"/>
          </a:p>
        </p:txBody>
      </p:sp>
      <p:sp>
        <p:nvSpPr>
          <p:cNvPr id="12" name="Shape 10"/>
          <p:cNvSpPr/>
          <p:nvPr/>
        </p:nvSpPr>
        <p:spPr>
          <a:xfrm>
            <a:off x="2423160" y="1051560"/>
            <a:ext cx="2057400" cy="35204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13" name="Shape 11"/>
          <p:cNvSpPr/>
          <p:nvPr/>
        </p:nvSpPr>
        <p:spPr>
          <a:xfrm>
            <a:off x="3154680" y="1188720"/>
            <a:ext cx="594360" cy="594360"/>
          </a:xfrm>
          <a:prstGeom prst="ellipse">
            <a:avLst/>
          </a:prstGeom>
          <a:solidFill>
            <a:srgbClr val="0072CE"/>
          </a:solidFill>
          <a:ln w="12700">
            <a:solidFill>
              <a:srgbClr val="0072CE"/>
            </a:solidFill>
            <a:prstDash val="solid"/>
          </a:ln>
        </p:spPr>
      </p:sp>
      <p:sp>
        <p:nvSpPr>
          <p:cNvPr id="14" name="Text 12"/>
          <p:cNvSpPr/>
          <p:nvPr/>
        </p:nvSpPr>
        <p:spPr>
          <a:xfrm>
            <a:off x="315468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Text 13"/>
          <p:cNvSpPr/>
          <p:nvPr/>
        </p:nvSpPr>
        <p:spPr>
          <a:xfrm>
            <a:off x="2532888" y="1920240"/>
            <a:ext cx="1828800" cy="548640"/>
          </a:xfrm>
          <a:prstGeom prst="rect">
            <a:avLst/>
          </a:prstGeom>
          <a:noFill/>
          <a:ln/>
        </p:spPr>
        <p:txBody>
          <a:bodyPr wrap="square" rtlCol="0" anchor="ctr"/>
          <a:lstStyle/>
          <a:p>
            <a:pPr algn="ctr" indent="0" marL="0">
              <a:buNone/>
            </a:pPr>
            <a:r>
              <a:rPr lang="en-US" sz="1100" b="1" dirty="0">
                <a:solidFill>
                  <a:srgbClr val="1E2761"/>
                </a:solidFill>
              </a:rPr>
              <a:t>Starter Kits &amp; Patterns</a:t>
            </a:r>
            <a:endParaRPr lang="en-US" sz="1100" dirty="0"/>
          </a:p>
        </p:txBody>
      </p:sp>
      <p:sp>
        <p:nvSpPr>
          <p:cNvPr id="16" name="Text 14"/>
          <p:cNvSpPr/>
          <p:nvPr/>
        </p:nvSpPr>
        <p:spPr>
          <a:xfrm>
            <a:off x="2560320" y="2560320"/>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Reference implementation templates</a:t>
            </a:r>
            <a:endParaRPr lang="en-US" sz="950" dirty="0"/>
          </a:p>
        </p:txBody>
      </p:sp>
      <p:sp>
        <p:nvSpPr>
          <p:cNvPr id="17" name="Text 15"/>
          <p:cNvSpPr/>
          <p:nvPr/>
        </p:nvSpPr>
        <p:spPr>
          <a:xfrm>
            <a:off x="2560320" y="3035808"/>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Approved pipeline patterns</a:t>
            </a:r>
            <a:endParaRPr lang="en-US" sz="950" dirty="0"/>
          </a:p>
        </p:txBody>
      </p:sp>
      <p:sp>
        <p:nvSpPr>
          <p:cNvPr id="18" name="Text 16"/>
          <p:cNvSpPr/>
          <p:nvPr/>
        </p:nvSpPr>
        <p:spPr>
          <a:xfrm>
            <a:off x="2560320" y="3511296"/>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Sample configs for key platforms</a:t>
            </a:r>
            <a:endParaRPr lang="en-US" sz="950" dirty="0"/>
          </a:p>
        </p:txBody>
      </p:sp>
      <p:sp>
        <p:nvSpPr>
          <p:cNvPr id="19" name="Shape 17"/>
          <p:cNvSpPr/>
          <p:nvPr/>
        </p:nvSpPr>
        <p:spPr>
          <a:xfrm>
            <a:off x="4617720" y="1051560"/>
            <a:ext cx="2057400" cy="35204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0" name="Shape 18"/>
          <p:cNvSpPr/>
          <p:nvPr/>
        </p:nvSpPr>
        <p:spPr>
          <a:xfrm>
            <a:off x="5349240" y="1188720"/>
            <a:ext cx="594360" cy="594360"/>
          </a:xfrm>
          <a:prstGeom prst="ellipse">
            <a:avLst/>
          </a:prstGeom>
          <a:solidFill>
            <a:srgbClr val="5A4FCF"/>
          </a:solidFill>
          <a:ln w="12700">
            <a:solidFill>
              <a:srgbClr val="5A4FCF"/>
            </a:solidFill>
            <a:prstDash val="solid"/>
          </a:ln>
        </p:spPr>
      </p:sp>
      <p:sp>
        <p:nvSpPr>
          <p:cNvPr id="21" name="Text 19"/>
          <p:cNvSpPr/>
          <p:nvPr/>
        </p:nvSpPr>
        <p:spPr>
          <a:xfrm>
            <a:off x="534924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2" name="Text 20"/>
          <p:cNvSpPr/>
          <p:nvPr/>
        </p:nvSpPr>
        <p:spPr>
          <a:xfrm>
            <a:off x="4727448" y="1920240"/>
            <a:ext cx="1828800" cy="548640"/>
          </a:xfrm>
          <a:prstGeom prst="rect">
            <a:avLst/>
          </a:prstGeom>
          <a:noFill/>
          <a:ln/>
        </p:spPr>
        <p:txBody>
          <a:bodyPr wrap="square" rtlCol="0" anchor="ctr"/>
          <a:lstStyle/>
          <a:p>
            <a:pPr algn="ctr" indent="0" marL="0">
              <a:buNone/>
            </a:pPr>
            <a:r>
              <a:rPr lang="en-US" sz="1100" b="1" dirty="0">
                <a:solidFill>
                  <a:srgbClr val="1E2761"/>
                </a:solidFill>
              </a:rPr>
              <a:t>Workshops &amp; Clinics</a:t>
            </a:r>
            <a:endParaRPr lang="en-US" sz="1100" dirty="0"/>
          </a:p>
        </p:txBody>
      </p:sp>
      <p:sp>
        <p:nvSpPr>
          <p:cNvPr id="23" name="Text 21"/>
          <p:cNvSpPr/>
          <p:nvPr/>
        </p:nvSpPr>
        <p:spPr>
          <a:xfrm>
            <a:off x="4754880" y="2560320"/>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Builder / reviewer / operator tracks</a:t>
            </a:r>
            <a:endParaRPr lang="en-US" sz="950" dirty="0"/>
          </a:p>
        </p:txBody>
      </p:sp>
      <p:sp>
        <p:nvSpPr>
          <p:cNvPr id="24" name="Text 22"/>
          <p:cNvSpPr/>
          <p:nvPr/>
        </p:nvSpPr>
        <p:spPr>
          <a:xfrm>
            <a:off x="4754880" y="3035808"/>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Office hours (global + regional)</a:t>
            </a:r>
            <a:endParaRPr lang="en-US" sz="950" dirty="0"/>
          </a:p>
        </p:txBody>
      </p:sp>
      <p:sp>
        <p:nvSpPr>
          <p:cNvPr id="25" name="Text 23"/>
          <p:cNvSpPr/>
          <p:nvPr/>
        </p:nvSpPr>
        <p:spPr>
          <a:xfrm>
            <a:off x="4754880" y="3511296"/>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COE + Champions co-delivery</a:t>
            </a:r>
            <a:endParaRPr lang="en-US" sz="950" dirty="0"/>
          </a:p>
        </p:txBody>
      </p:sp>
      <p:sp>
        <p:nvSpPr>
          <p:cNvPr id="26" name="Shape 24"/>
          <p:cNvSpPr/>
          <p:nvPr/>
        </p:nvSpPr>
        <p:spPr>
          <a:xfrm>
            <a:off x="6812280" y="1051560"/>
            <a:ext cx="2057400" cy="35204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7" name="Shape 25"/>
          <p:cNvSpPr/>
          <p:nvPr/>
        </p:nvSpPr>
        <p:spPr>
          <a:xfrm>
            <a:off x="7543800" y="1188720"/>
            <a:ext cx="594360" cy="594360"/>
          </a:xfrm>
          <a:prstGeom prst="ellipse">
            <a:avLst/>
          </a:prstGeom>
          <a:solidFill>
            <a:srgbClr val="F0A500"/>
          </a:solidFill>
          <a:ln w="12700">
            <a:solidFill>
              <a:srgbClr val="F0A500"/>
            </a:solidFill>
            <a:prstDash val="solid"/>
          </a:ln>
        </p:spPr>
      </p:sp>
      <p:sp>
        <p:nvSpPr>
          <p:cNvPr id="28" name="Text 26"/>
          <p:cNvSpPr/>
          <p:nvPr/>
        </p:nvSpPr>
        <p:spPr>
          <a:xfrm>
            <a:off x="7543800" y="11887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Text 27"/>
          <p:cNvSpPr/>
          <p:nvPr/>
        </p:nvSpPr>
        <p:spPr>
          <a:xfrm>
            <a:off x="6922008" y="1920240"/>
            <a:ext cx="1828800" cy="548640"/>
          </a:xfrm>
          <a:prstGeom prst="rect">
            <a:avLst/>
          </a:prstGeom>
          <a:noFill/>
          <a:ln/>
        </p:spPr>
        <p:txBody>
          <a:bodyPr wrap="square" rtlCol="0" anchor="ctr"/>
          <a:lstStyle/>
          <a:p>
            <a:pPr algn="ctr" indent="0" marL="0">
              <a:buNone/>
            </a:pPr>
            <a:r>
              <a:rPr lang="en-US" sz="1100" b="1" dirty="0">
                <a:solidFill>
                  <a:srgbClr val="1E2761"/>
                </a:solidFill>
              </a:rPr>
              <a:t>Two-Way Feedback Loop</a:t>
            </a:r>
            <a:endParaRPr lang="en-US" sz="1100" dirty="0"/>
          </a:p>
        </p:txBody>
      </p:sp>
      <p:sp>
        <p:nvSpPr>
          <p:cNvPr id="30" name="Text 28"/>
          <p:cNvSpPr/>
          <p:nvPr/>
        </p:nvSpPr>
        <p:spPr>
          <a:xfrm>
            <a:off x="6949440" y="2560320"/>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Regions contribute patterns back</a:t>
            </a:r>
            <a:endParaRPr lang="en-US" sz="950" dirty="0"/>
          </a:p>
        </p:txBody>
      </p:sp>
      <p:sp>
        <p:nvSpPr>
          <p:cNvPr id="31" name="Text 29"/>
          <p:cNvSpPr/>
          <p:nvPr/>
        </p:nvSpPr>
        <p:spPr>
          <a:xfrm>
            <a:off x="6949440" y="3035808"/>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Champion insights shape standards</a:t>
            </a:r>
            <a:endParaRPr lang="en-US" sz="950" dirty="0"/>
          </a:p>
        </p:txBody>
      </p:sp>
      <p:sp>
        <p:nvSpPr>
          <p:cNvPr id="32" name="Text 30"/>
          <p:cNvSpPr/>
          <p:nvPr/>
        </p:nvSpPr>
        <p:spPr>
          <a:xfrm>
            <a:off x="6949440" y="3511296"/>
            <a:ext cx="1737360" cy="457200"/>
          </a:xfrm>
          <a:prstGeom prst="rect">
            <a:avLst/>
          </a:prstGeom>
          <a:noFill/>
          <a:ln/>
        </p:spPr>
        <p:txBody>
          <a:bodyPr wrap="square" rtlCol="0" anchor="ctr"/>
          <a:lstStyle/>
          <a:p>
            <a:pPr marL="342900" indent="-342900">
              <a:buSzPct val="100000"/>
              <a:buChar char="•"/>
            </a:pPr>
            <a:r>
              <a:rPr lang="en-US" sz="950" dirty="0">
                <a:solidFill>
                  <a:srgbClr val="4A5568"/>
                </a:solidFill>
              </a:rPr>
              <a:t>Library grows with adoption</a:t>
            </a:r>
            <a:endParaRPr lang="en-US" sz="950" dirty="0"/>
          </a:p>
        </p:txBody>
      </p:sp>
      <p:sp>
        <p:nvSpPr>
          <p:cNvPr id="33" name="Shape 31"/>
          <p:cNvSpPr/>
          <p:nvPr/>
        </p:nvSpPr>
        <p:spPr>
          <a:xfrm>
            <a:off x="228600" y="4663440"/>
            <a:ext cx="8686800" cy="347472"/>
          </a:xfrm>
          <a:prstGeom prst="rect">
            <a:avLst/>
          </a:prstGeom>
          <a:solidFill>
            <a:srgbClr val="1E2761"/>
          </a:solidFill>
          <a:ln w="12700">
            <a:solidFill>
              <a:srgbClr val="1E2761"/>
            </a:solidFill>
            <a:prstDash val="solid"/>
          </a:ln>
        </p:spPr>
      </p:sp>
      <p:sp>
        <p:nvSpPr>
          <p:cNvPr id="34" name="Text 32"/>
          <p:cNvSpPr/>
          <p:nvPr/>
        </p:nvSpPr>
        <p:spPr>
          <a:xfrm>
            <a:off x="228600" y="4663440"/>
            <a:ext cx="8686800" cy="347472"/>
          </a:xfrm>
          <a:prstGeom prst="rect">
            <a:avLst/>
          </a:prstGeom>
          <a:noFill/>
          <a:ln/>
        </p:spPr>
        <p:txBody>
          <a:bodyPr wrap="square" rtlCol="0" anchor="ctr"/>
          <a:lstStyle/>
          <a:p>
            <a:pPr algn="ctr" indent="0" marL="0">
              <a:buNone/>
            </a:pPr>
            <a:r>
              <a:rPr lang="en-US" sz="950" b="1" dirty="0">
                <a:solidFill>
                  <a:srgbClr val="02C39A"/>
                </a:solidFill>
              </a:rPr>
              <a:t>SUCCESS MEASURE:  Time to first successful automation  ·  Reuse of approved patterns  ·  Reliability improvement over 90 days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300" b="1" dirty="0">
                <a:solidFill>
                  <a:srgbClr val="FFFFFF"/>
                </a:solidFill>
              </a:rPr>
              <a:t>Global Model: COE · Community of Practice · Champions</a:t>
            </a:r>
            <a:endParaRPr lang="en-US" sz="2300" dirty="0"/>
          </a:p>
        </p:txBody>
      </p:sp>
      <p:sp>
        <p:nvSpPr>
          <p:cNvPr id="5" name="Shape 3"/>
          <p:cNvSpPr/>
          <p:nvPr/>
        </p:nvSpPr>
        <p:spPr>
          <a:xfrm>
            <a:off x="274320" y="1005840"/>
            <a:ext cx="2788920" cy="3886200"/>
          </a:xfrm>
          <a:prstGeom prst="rect">
            <a:avLst/>
          </a:prstGeom>
          <a:solidFill>
            <a:srgbClr val="FFFFFF"/>
          </a:solidFill>
          <a:ln w="12700">
            <a:solidFill>
              <a:srgbClr val="E2E8F0"/>
            </a:solidFill>
            <a:prstDash val="solid"/>
          </a:ln>
          <a:effectLst>
            <a:outerShdw sx="100000" sy="100000" kx="0" ky="0" algn="bl" rotWithShape="0" blurRad="88900" dist="38100" dir="8100000">
              <a:srgbClr val="000000">
                <a:alpha val="8000"/>
              </a:srgbClr>
            </a:outerShdw>
          </a:effectLst>
        </p:spPr>
      </p:sp>
      <p:sp>
        <p:nvSpPr>
          <p:cNvPr id="6" name="Shape 4"/>
          <p:cNvSpPr/>
          <p:nvPr/>
        </p:nvSpPr>
        <p:spPr>
          <a:xfrm>
            <a:off x="274320" y="1005840"/>
            <a:ext cx="2788920" cy="640080"/>
          </a:xfrm>
          <a:prstGeom prst="rect">
            <a:avLst/>
          </a:prstGeom>
          <a:solidFill>
            <a:srgbClr val="1E2761"/>
          </a:solidFill>
          <a:ln w="12700">
            <a:solidFill>
              <a:srgbClr val="1E2761"/>
            </a:solidFill>
            <a:prstDash val="solid"/>
          </a:ln>
        </p:spPr>
      </p:sp>
      <p:sp>
        <p:nvSpPr>
          <p:cNvPr id="7" name="Text 5"/>
          <p:cNvSpPr/>
          <p:nvPr/>
        </p:nvSpPr>
        <p:spPr>
          <a:xfrm>
            <a:off x="365760" y="1005840"/>
            <a:ext cx="2606040" cy="411480"/>
          </a:xfrm>
          <a:prstGeom prst="rect">
            <a:avLst/>
          </a:prstGeom>
          <a:noFill/>
          <a:ln/>
        </p:spPr>
        <p:txBody>
          <a:bodyPr wrap="square" rtlCol="0" anchor="ctr"/>
          <a:lstStyle/>
          <a:p>
            <a:pPr indent="0" marL="0">
              <a:buNone/>
            </a:pPr>
            <a:r>
              <a:rPr lang="en-US" sz="1300" b="1" dirty="0">
                <a:solidFill>
                  <a:srgbClr val="FFFFFF"/>
                </a:solidFill>
              </a:rPr>
              <a:t>Global COE</a:t>
            </a:r>
            <a:endParaRPr lang="en-US" sz="1300" dirty="0"/>
          </a:p>
        </p:txBody>
      </p:sp>
      <p:sp>
        <p:nvSpPr>
          <p:cNvPr id="8" name="Text 6"/>
          <p:cNvSpPr/>
          <p:nvPr/>
        </p:nvSpPr>
        <p:spPr>
          <a:xfrm>
            <a:off x="365760" y="1389888"/>
            <a:ext cx="2606040" cy="228600"/>
          </a:xfrm>
          <a:prstGeom prst="rect">
            <a:avLst/>
          </a:prstGeom>
          <a:noFill/>
          <a:ln/>
        </p:spPr>
        <p:txBody>
          <a:bodyPr wrap="square" rtlCol="0" anchor="ctr"/>
          <a:lstStyle/>
          <a:p>
            <a:pPr indent="0" marL="0">
              <a:buNone/>
            </a:pPr>
            <a:r>
              <a:rPr lang="en-US" sz="750" b="1" spc="150" kern="0" dirty="0">
                <a:solidFill>
                  <a:srgbClr val="CADCFC"/>
                </a:solidFill>
              </a:rPr>
              <a:t>OWNS WHAT GOOD LOOKS LIKE</a:t>
            </a:r>
            <a:endParaRPr lang="en-US" sz="750" dirty="0"/>
          </a:p>
        </p:txBody>
      </p:sp>
      <p:sp>
        <p:nvSpPr>
          <p:cNvPr id="9" name="Text 7"/>
          <p:cNvSpPr/>
          <p:nvPr/>
        </p:nvSpPr>
        <p:spPr>
          <a:xfrm>
            <a:off x="411480" y="1783080"/>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Accountable for global standards &amp; governance</a:t>
            </a:r>
            <a:endParaRPr lang="en-US" sz="1000" dirty="0"/>
          </a:p>
        </p:txBody>
      </p:sp>
      <p:sp>
        <p:nvSpPr>
          <p:cNvPr id="10" name="Text 8"/>
          <p:cNvSpPr/>
          <p:nvPr/>
        </p:nvSpPr>
        <p:spPr>
          <a:xfrm>
            <a:off x="411480" y="2496312"/>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Drives enablement strategy &amp; starter kits</a:t>
            </a:r>
            <a:endParaRPr lang="en-US" sz="1000" dirty="0"/>
          </a:p>
        </p:txBody>
      </p:sp>
      <p:sp>
        <p:nvSpPr>
          <p:cNvPr id="11" name="Text 9"/>
          <p:cNvSpPr/>
          <p:nvPr/>
        </p:nvSpPr>
        <p:spPr>
          <a:xfrm>
            <a:off x="411480" y="3209544"/>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Integration point for feedback &amp; continuous improvement</a:t>
            </a:r>
            <a:endParaRPr lang="en-US" sz="1000" dirty="0"/>
          </a:p>
        </p:txBody>
      </p:sp>
      <p:sp>
        <p:nvSpPr>
          <p:cNvPr id="12" name="Text 10"/>
          <p:cNvSpPr/>
          <p:nvPr/>
        </p:nvSpPr>
        <p:spPr>
          <a:xfrm>
            <a:off x="411480" y="3922776"/>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NOT a delivery bottleneck—a working body for outcomes</a:t>
            </a:r>
            <a:endParaRPr lang="en-US" sz="1000" dirty="0"/>
          </a:p>
        </p:txBody>
      </p:sp>
      <p:sp>
        <p:nvSpPr>
          <p:cNvPr id="13" name="Shape 11"/>
          <p:cNvSpPr/>
          <p:nvPr/>
        </p:nvSpPr>
        <p:spPr>
          <a:xfrm>
            <a:off x="3246120" y="1005840"/>
            <a:ext cx="2788920" cy="3886200"/>
          </a:xfrm>
          <a:prstGeom prst="rect">
            <a:avLst/>
          </a:prstGeom>
          <a:solidFill>
            <a:srgbClr val="FFFFFF"/>
          </a:solidFill>
          <a:ln w="12700">
            <a:solidFill>
              <a:srgbClr val="E2E8F0"/>
            </a:solidFill>
            <a:prstDash val="solid"/>
          </a:ln>
          <a:effectLst>
            <a:outerShdw sx="100000" sy="100000" kx="0" ky="0" algn="bl" rotWithShape="0" blurRad="88900" dist="38100" dir="8100000">
              <a:srgbClr val="000000">
                <a:alpha val="8000"/>
              </a:srgbClr>
            </a:outerShdw>
          </a:effectLst>
        </p:spPr>
      </p:sp>
      <p:sp>
        <p:nvSpPr>
          <p:cNvPr id="14" name="Shape 12"/>
          <p:cNvSpPr/>
          <p:nvPr/>
        </p:nvSpPr>
        <p:spPr>
          <a:xfrm>
            <a:off x="3246120" y="1005840"/>
            <a:ext cx="2788920" cy="640080"/>
          </a:xfrm>
          <a:prstGeom prst="rect">
            <a:avLst/>
          </a:prstGeom>
          <a:solidFill>
            <a:srgbClr val="028090"/>
          </a:solidFill>
          <a:ln w="12700">
            <a:solidFill>
              <a:srgbClr val="028090"/>
            </a:solidFill>
            <a:prstDash val="solid"/>
          </a:ln>
        </p:spPr>
      </p:sp>
      <p:sp>
        <p:nvSpPr>
          <p:cNvPr id="15" name="Text 13"/>
          <p:cNvSpPr/>
          <p:nvPr/>
        </p:nvSpPr>
        <p:spPr>
          <a:xfrm>
            <a:off x="3337560" y="1005840"/>
            <a:ext cx="2606040" cy="411480"/>
          </a:xfrm>
          <a:prstGeom prst="rect">
            <a:avLst/>
          </a:prstGeom>
          <a:noFill/>
          <a:ln/>
        </p:spPr>
        <p:txBody>
          <a:bodyPr wrap="square" rtlCol="0" anchor="ctr"/>
          <a:lstStyle/>
          <a:p>
            <a:pPr indent="0" marL="0">
              <a:buNone/>
            </a:pPr>
            <a:r>
              <a:rPr lang="en-US" sz="1300" b="1" dirty="0">
                <a:solidFill>
                  <a:srgbClr val="FFFFFF"/>
                </a:solidFill>
              </a:rPr>
              <a:t>Community of Practice</a:t>
            </a:r>
            <a:endParaRPr lang="en-US" sz="1300" dirty="0"/>
          </a:p>
        </p:txBody>
      </p:sp>
      <p:sp>
        <p:nvSpPr>
          <p:cNvPr id="16" name="Text 14"/>
          <p:cNvSpPr/>
          <p:nvPr/>
        </p:nvSpPr>
        <p:spPr>
          <a:xfrm>
            <a:off x="3337560" y="1389888"/>
            <a:ext cx="2606040" cy="228600"/>
          </a:xfrm>
          <a:prstGeom prst="rect">
            <a:avLst/>
          </a:prstGeom>
          <a:noFill/>
          <a:ln/>
        </p:spPr>
        <p:txBody>
          <a:bodyPr wrap="square" rtlCol="0" anchor="ctr"/>
          <a:lstStyle/>
          <a:p>
            <a:pPr indent="0" marL="0">
              <a:buNone/>
            </a:pPr>
            <a:r>
              <a:rPr lang="en-US" sz="750" b="1" spc="150" kern="0" dirty="0">
                <a:solidFill>
                  <a:srgbClr val="C8EAF0"/>
                </a:solidFill>
              </a:rPr>
              <a:t>SHARES HOW IT WORKS</a:t>
            </a:r>
            <a:endParaRPr lang="en-US" sz="750" dirty="0"/>
          </a:p>
        </p:txBody>
      </p:sp>
      <p:sp>
        <p:nvSpPr>
          <p:cNvPr id="17" name="Text 15"/>
          <p:cNvSpPr/>
          <p:nvPr/>
        </p:nvSpPr>
        <p:spPr>
          <a:xfrm>
            <a:off x="3383280" y="1783080"/>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Knowledge sharing &amp; peer learning forum</a:t>
            </a:r>
            <a:endParaRPr lang="en-US" sz="1000" dirty="0"/>
          </a:p>
        </p:txBody>
      </p:sp>
      <p:sp>
        <p:nvSpPr>
          <p:cNvPr id="18" name="Text 16"/>
          <p:cNvSpPr/>
          <p:nvPr/>
        </p:nvSpPr>
        <p:spPr>
          <a:xfrm>
            <a:off x="3383280" y="2496312"/>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Translates standards into practical understanding</a:t>
            </a:r>
            <a:endParaRPr lang="en-US" sz="1000" dirty="0"/>
          </a:p>
        </p:txBody>
      </p:sp>
      <p:sp>
        <p:nvSpPr>
          <p:cNvPr id="19" name="Text 17"/>
          <p:cNvSpPr/>
          <p:nvPr/>
        </p:nvSpPr>
        <p:spPr>
          <a:xfrm>
            <a:off x="3383280" y="3209544"/>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Incubates emerging practices &amp; tools</a:t>
            </a:r>
            <a:endParaRPr lang="en-US" sz="1000" dirty="0"/>
          </a:p>
        </p:txBody>
      </p:sp>
      <p:sp>
        <p:nvSpPr>
          <p:cNvPr id="20" name="Text 18"/>
          <p:cNvSpPr/>
          <p:nvPr/>
        </p:nvSpPr>
        <p:spPr>
          <a:xfrm>
            <a:off x="3383280" y="3922776"/>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Cross-region connection: US, EMEA, APAC</a:t>
            </a:r>
            <a:endParaRPr lang="en-US" sz="1000" dirty="0"/>
          </a:p>
        </p:txBody>
      </p:sp>
      <p:sp>
        <p:nvSpPr>
          <p:cNvPr id="21" name="Shape 19"/>
          <p:cNvSpPr/>
          <p:nvPr/>
        </p:nvSpPr>
        <p:spPr>
          <a:xfrm>
            <a:off x="6217920" y="1005840"/>
            <a:ext cx="2788920" cy="3886200"/>
          </a:xfrm>
          <a:prstGeom prst="rect">
            <a:avLst/>
          </a:prstGeom>
          <a:solidFill>
            <a:srgbClr val="FFFFFF"/>
          </a:solidFill>
          <a:ln w="12700">
            <a:solidFill>
              <a:srgbClr val="E2E8F0"/>
            </a:solidFill>
            <a:prstDash val="solid"/>
          </a:ln>
          <a:effectLst>
            <a:outerShdw sx="100000" sy="100000" kx="0" ky="0" algn="bl" rotWithShape="0" blurRad="88900" dist="38100" dir="8100000">
              <a:srgbClr val="000000">
                <a:alpha val="8000"/>
              </a:srgbClr>
            </a:outerShdw>
          </a:effectLst>
        </p:spPr>
      </p:sp>
      <p:sp>
        <p:nvSpPr>
          <p:cNvPr id="22" name="Shape 20"/>
          <p:cNvSpPr/>
          <p:nvPr/>
        </p:nvSpPr>
        <p:spPr>
          <a:xfrm>
            <a:off x="6217920" y="1005840"/>
            <a:ext cx="2788920" cy="640080"/>
          </a:xfrm>
          <a:prstGeom prst="rect">
            <a:avLst/>
          </a:prstGeom>
          <a:solidFill>
            <a:srgbClr val="F0A500"/>
          </a:solidFill>
          <a:ln w="12700">
            <a:solidFill>
              <a:srgbClr val="F0A500"/>
            </a:solidFill>
            <a:prstDash val="solid"/>
          </a:ln>
        </p:spPr>
      </p:sp>
      <p:sp>
        <p:nvSpPr>
          <p:cNvPr id="23" name="Text 21"/>
          <p:cNvSpPr/>
          <p:nvPr/>
        </p:nvSpPr>
        <p:spPr>
          <a:xfrm>
            <a:off x="6309360" y="1005840"/>
            <a:ext cx="2606040" cy="411480"/>
          </a:xfrm>
          <a:prstGeom prst="rect">
            <a:avLst/>
          </a:prstGeom>
          <a:noFill/>
          <a:ln/>
        </p:spPr>
        <p:txBody>
          <a:bodyPr wrap="square" rtlCol="0" anchor="ctr"/>
          <a:lstStyle/>
          <a:p>
            <a:pPr indent="0" marL="0">
              <a:buNone/>
            </a:pPr>
            <a:r>
              <a:rPr lang="en-US" sz="1300" b="1" dirty="0">
                <a:solidFill>
                  <a:srgbClr val="FFFFFF"/>
                </a:solidFill>
              </a:rPr>
              <a:t>Regional Champions</a:t>
            </a:r>
            <a:endParaRPr lang="en-US" sz="1300" dirty="0"/>
          </a:p>
        </p:txBody>
      </p:sp>
      <p:sp>
        <p:nvSpPr>
          <p:cNvPr id="24" name="Text 22"/>
          <p:cNvSpPr/>
          <p:nvPr/>
        </p:nvSpPr>
        <p:spPr>
          <a:xfrm>
            <a:off x="6309360" y="1389888"/>
            <a:ext cx="2606040" cy="228600"/>
          </a:xfrm>
          <a:prstGeom prst="rect">
            <a:avLst/>
          </a:prstGeom>
          <a:noFill/>
          <a:ln/>
        </p:spPr>
        <p:txBody>
          <a:bodyPr wrap="square" rtlCol="0" anchor="ctr"/>
          <a:lstStyle/>
          <a:p>
            <a:pPr indent="0" marL="0">
              <a:buNone/>
            </a:pPr>
            <a:r>
              <a:rPr lang="en-US" sz="750" b="1" spc="150" kern="0" dirty="0">
                <a:solidFill>
                  <a:srgbClr val="1E2761"/>
                </a:solidFill>
              </a:rPr>
              <a:t>DRIVES LOCAL EXECUTION</a:t>
            </a:r>
            <a:endParaRPr lang="en-US" sz="750" dirty="0"/>
          </a:p>
        </p:txBody>
      </p:sp>
      <p:sp>
        <p:nvSpPr>
          <p:cNvPr id="25" name="Text 23"/>
          <p:cNvSpPr/>
          <p:nvPr/>
        </p:nvSpPr>
        <p:spPr>
          <a:xfrm>
            <a:off x="6355080" y="1783080"/>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Local face of global strategy—enablement, not policing</a:t>
            </a:r>
            <a:endParaRPr lang="en-US" sz="1000" dirty="0"/>
          </a:p>
        </p:txBody>
      </p:sp>
      <p:sp>
        <p:nvSpPr>
          <p:cNvPr id="26" name="Text 24"/>
          <p:cNvSpPr/>
          <p:nvPr/>
        </p:nvSpPr>
        <p:spPr>
          <a:xfrm>
            <a:off x="6355080" y="2496312"/>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Hands-on support for applying standards in context</a:t>
            </a:r>
            <a:endParaRPr lang="en-US" sz="1000" dirty="0"/>
          </a:p>
        </p:txBody>
      </p:sp>
      <p:sp>
        <p:nvSpPr>
          <p:cNvPr id="27" name="Text 25"/>
          <p:cNvSpPr/>
          <p:nvPr/>
        </p:nvSpPr>
        <p:spPr>
          <a:xfrm>
            <a:off x="6355080" y="3209544"/>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Surface regional friction back to COE</a:t>
            </a:r>
            <a:endParaRPr lang="en-US" sz="1000" dirty="0"/>
          </a:p>
        </p:txBody>
      </p:sp>
      <p:sp>
        <p:nvSpPr>
          <p:cNvPr id="28" name="Text 26"/>
          <p:cNvSpPr/>
          <p:nvPr/>
        </p:nvSpPr>
        <p:spPr>
          <a:xfrm>
            <a:off x="6355080" y="3922776"/>
            <a:ext cx="2468880" cy="658368"/>
          </a:xfrm>
          <a:prstGeom prst="rect">
            <a:avLst/>
          </a:prstGeom>
          <a:noFill/>
          <a:ln/>
        </p:spPr>
        <p:txBody>
          <a:bodyPr wrap="square" rtlCol="0" anchor="ctr"/>
          <a:lstStyle/>
          <a:p>
            <a:pPr marL="342900" indent="-342900">
              <a:buSzPct val="100000"/>
              <a:buChar char="•"/>
            </a:pPr>
            <a:r>
              <a:rPr lang="en-US" sz="1000" dirty="0">
                <a:solidFill>
                  <a:srgbClr val="4A5568"/>
                </a:solidFill>
              </a:rPr>
              <a:t>Run local sessions; lead CoP discussions</a:t>
            </a:r>
            <a:endParaRPr lang="en-US" sz="1000" dirty="0"/>
          </a:p>
        </p:txBody>
      </p:sp>
      <p:sp>
        <p:nvSpPr>
          <p:cNvPr id="29" name="Shape 27"/>
          <p:cNvSpPr/>
          <p:nvPr/>
        </p:nvSpPr>
        <p:spPr>
          <a:xfrm>
            <a:off x="274320" y="4663440"/>
            <a:ext cx="8595360" cy="347472"/>
          </a:xfrm>
          <a:prstGeom prst="rect">
            <a:avLst/>
          </a:prstGeom>
          <a:solidFill>
            <a:srgbClr val="028090"/>
          </a:solidFill>
          <a:ln w="12700">
            <a:solidFill>
              <a:srgbClr val="028090"/>
            </a:solidFill>
            <a:prstDash val="solid"/>
          </a:ln>
        </p:spPr>
      </p:sp>
      <p:sp>
        <p:nvSpPr>
          <p:cNvPr id="30" name="Text 28"/>
          <p:cNvSpPr/>
          <p:nvPr/>
        </p:nvSpPr>
        <p:spPr>
          <a:xfrm>
            <a:off x="274320" y="4663440"/>
            <a:ext cx="8595360" cy="347472"/>
          </a:xfrm>
          <a:prstGeom prst="rect">
            <a:avLst/>
          </a:prstGeom>
          <a:noFill/>
          <a:ln/>
        </p:spPr>
        <p:txBody>
          <a:bodyPr wrap="square" rtlCol="0" anchor="ctr"/>
          <a:lstStyle/>
          <a:p>
            <a:pPr algn="ctr" indent="0" marL="0">
              <a:buNone/>
            </a:pPr>
            <a:r>
              <a:rPr lang="en-US" sz="900" b="1" dirty="0">
                <a:solidFill>
                  <a:srgbClr val="FFFFFF"/>
                </a:solidFill>
              </a:rPr>
              <a:t>HOW TO LEVERAGE CHAMPIONS:  Define clear expectations  ·  Allocate protected time  ·  Recognize as a formal role  ·  Measure by adoption outcomes—not compliance counts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600" b="1" dirty="0">
                <a:solidFill>
                  <a:srgbClr val="FFFFFF"/>
                </a:solidFill>
              </a:rPr>
              <a:t>Reporting Framework: What SLT Will See</a:t>
            </a:r>
            <a:endParaRPr lang="en-US" sz="2600" dirty="0"/>
          </a:p>
        </p:txBody>
      </p:sp>
      <p:sp>
        <p:nvSpPr>
          <p:cNvPr id="5" name="Shape 3"/>
          <p:cNvSpPr/>
          <p:nvPr/>
        </p:nvSpPr>
        <p:spPr>
          <a:xfrm>
            <a:off x="274320" y="1051560"/>
            <a:ext cx="2011680" cy="30175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6" name="Shape 4"/>
          <p:cNvSpPr/>
          <p:nvPr/>
        </p:nvSpPr>
        <p:spPr>
          <a:xfrm>
            <a:off x="274320" y="1051560"/>
            <a:ext cx="2011680" cy="502920"/>
          </a:xfrm>
          <a:prstGeom prst="rect">
            <a:avLst/>
          </a:prstGeom>
          <a:solidFill>
            <a:srgbClr val="028090"/>
          </a:solidFill>
          <a:ln w="12700">
            <a:solidFill>
              <a:srgbClr val="028090"/>
            </a:solidFill>
            <a:prstDash val="solid"/>
          </a:ln>
        </p:spPr>
      </p:sp>
      <p:sp>
        <p:nvSpPr>
          <p:cNvPr id="7" name="Text 5"/>
          <p:cNvSpPr/>
          <p:nvPr/>
        </p:nvSpPr>
        <p:spPr>
          <a:xfrm>
            <a:off x="274320" y="1051560"/>
            <a:ext cx="2011680" cy="502920"/>
          </a:xfrm>
          <a:prstGeom prst="rect">
            <a:avLst/>
          </a:prstGeom>
          <a:noFill/>
          <a:ln/>
        </p:spPr>
        <p:txBody>
          <a:bodyPr wrap="square" lIns="0" tIns="0" rIns="0" bIns="0" rtlCol="0" anchor="ctr"/>
          <a:lstStyle/>
          <a:p>
            <a:pPr algn="ctr" indent="0" marL="0">
              <a:buNone/>
            </a:pPr>
            <a:r>
              <a:rPr lang="en-US" sz="1400" b="1" dirty="0">
                <a:solidFill>
                  <a:srgbClr val="FFFFFF"/>
                </a:solidFill>
              </a:rPr>
              <a:t>Adoption</a:t>
            </a:r>
            <a:endParaRPr lang="en-US" sz="1400" dirty="0"/>
          </a:p>
        </p:txBody>
      </p:sp>
      <p:sp>
        <p:nvSpPr>
          <p:cNvPr id="8" name="Shape 6"/>
          <p:cNvSpPr/>
          <p:nvPr/>
        </p:nvSpPr>
        <p:spPr>
          <a:xfrm>
            <a:off x="411480" y="1691640"/>
            <a:ext cx="1737360" cy="0"/>
          </a:xfrm>
          <a:prstGeom prst="line">
            <a:avLst/>
          </a:prstGeom>
          <a:noFill/>
          <a:ln w="6350">
            <a:solidFill>
              <a:srgbClr val="E2E8F0"/>
            </a:solidFill>
            <a:prstDash val="solid"/>
          </a:ln>
        </p:spPr>
      </p:sp>
      <p:sp>
        <p:nvSpPr>
          <p:cNvPr id="9" name="Text 7"/>
          <p:cNvSpPr/>
          <p:nvPr/>
        </p:nvSpPr>
        <p:spPr>
          <a:xfrm>
            <a:off x="411480" y="1719072"/>
            <a:ext cx="1737360" cy="548640"/>
          </a:xfrm>
          <a:prstGeom prst="rect">
            <a:avLst/>
          </a:prstGeom>
          <a:noFill/>
          <a:ln/>
        </p:spPr>
        <p:txBody>
          <a:bodyPr wrap="square" rtlCol="0" anchor="t"/>
          <a:lstStyle/>
          <a:p>
            <a:pPr indent="0" marL="0">
              <a:buNone/>
            </a:pPr>
            <a:r>
              <a:rPr lang="en-US" sz="1000" dirty="0">
                <a:solidFill>
                  <a:srgbClr val="4A5568"/>
                </a:solidFill>
              </a:rPr>
              <a:t>Teams onboarded &amp; active</a:t>
            </a:r>
            <a:endParaRPr lang="en-US" sz="1000" dirty="0"/>
          </a:p>
        </p:txBody>
      </p:sp>
      <p:sp>
        <p:nvSpPr>
          <p:cNvPr id="10" name="Shape 8"/>
          <p:cNvSpPr/>
          <p:nvPr/>
        </p:nvSpPr>
        <p:spPr>
          <a:xfrm>
            <a:off x="411480" y="2350008"/>
            <a:ext cx="1737360" cy="0"/>
          </a:xfrm>
          <a:prstGeom prst="line">
            <a:avLst/>
          </a:prstGeom>
          <a:noFill/>
          <a:ln w="6350">
            <a:solidFill>
              <a:srgbClr val="E2E8F0"/>
            </a:solidFill>
            <a:prstDash val="solid"/>
          </a:ln>
        </p:spPr>
      </p:sp>
      <p:sp>
        <p:nvSpPr>
          <p:cNvPr id="11" name="Text 9"/>
          <p:cNvSpPr/>
          <p:nvPr/>
        </p:nvSpPr>
        <p:spPr>
          <a:xfrm>
            <a:off x="411480" y="2377440"/>
            <a:ext cx="1737360" cy="548640"/>
          </a:xfrm>
          <a:prstGeom prst="rect">
            <a:avLst/>
          </a:prstGeom>
          <a:noFill/>
          <a:ln/>
        </p:spPr>
        <p:txBody>
          <a:bodyPr wrap="square" rtlCol="0" anchor="t"/>
          <a:lstStyle/>
          <a:p>
            <a:pPr indent="0" marL="0">
              <a:buNone/>
            </a:pPr>
            <a:r>
              <a:rPr lang="en-US" sz="1000" dirty="0">
                <a:solidFill>
                  <a:srgbClr val="4A5568"/>
                </a:solidFill>
              </a:rPr>
              <a:t>Pipeline coverage %</a:t>
            </a:r>
            <a:endParaRPr lang="en-US" sz="1000" dirty="0"/>
          </a:p>
        </p:txBody>
      </p:sp>
      <p:sp>
        <p:nvSpPr>
          <p:cNvPr id="12" name="Shape 10"/>
          <p:cNvSpPr/>
          <p:nvPr/>
        </p:nvSpPr>
        <p:spPr>
          <a:xfrm>
            <a:off x="411480" y="3008376"/>
            <a:ext cx="1737360" cy="0"/>
          </a:xfrm>
          <a:prstGeom prst="line">
            <a:avLst/>
          </a:prstGeom>
          <a:noFill/>
          <a:ln w="6350">
            <a:solidFill>
              <a:srgbClr val="E2E8F0"/>
            </a:solidFill>
            <a:prstDash val="solid"/>
          </a:ln>
        </p:spPr>
      </p:sp>
      <p:sp>
        <p:nvSpPr>
          <p:cNvPr id="13" name="Text 11"/>
          <p:cNvSpPr/>
          <p:nvPr/>
        </p:nvSpPr>
        <p:spPr>
          <a:xfrm>
            <a:off x="411480" y="3035808"/>
            <a:ext cx="1737360" cy="548640"/>
          </a:xfrm>
          <a:prstGeom prst="rect">
            <a:avLst/>
          </a:prstGeom>
          <a:noFill/>
          <a:ln/>
        </p:spPr>
        <p:txBody>
          <a:bodyPr wrap="square" rtlCol="0" anchor="t"/>
          <a:lstStyle/>
          <a:p>
            <a:pPr indent="0" marL="0">
              <a:buNone/>
            </a:pPr>
            <a:r>
              <a:rPr lang="en-US" sz="1000" dirty="0">
                <a:solidFill>
                  <a:srgbClr val="4A5568"/>
                </a:solidFill>
              </a:rPr>
              <a:t>Standards utilization rate</a:t>
            </a:r>
            <a:endParaRPr lang="en-US" sz="1000" dirty="0"/>
          </a:p>
        </p:txBody>
      </p:sp>
      <p:sp>
        <p:nvSpPr>
          <p:cNvPr id="14" name="Shape 12"/>
          <p:cNvSpPr/>
          <p:nvPr/>
        </p:nvSpPr>
        <p:spPr>
          <a:xfrm>
            <a:off x="2450592" y="1051560"/>
            <a:ext cx="2011680" cy="30175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15" name="Shape 13"/>
          <p:cNvSpPr/>
          <p:nvPr/>
        </p:nvSpPr>
        <p:spPr>
          <a:xfrm>
            <a:off x="2450592" y="1051560"/>
            <a:ext cx="2011680" cy="502920"/>
          </a:xfrm>
          <a:prstGeom prst="rect">
            <a:avLst/>
          </a:prstGeom>
          <a:solidFill>
            <a:srgbClr val="0072CE"/>
          </a:solidFill>
          <a:ln w="12700">
            <a:solidFill>
              <a:srgbClr val="0072CE"/>
            </a:solidFill>
            <a:prstDash val="solid"/>
          </a:ln>
        </p:spPr>
      </p:sp>
      <p:sp>
        <p:nvSpPr>
          <p:cNvPr id="16" name="Text 14"/>
          <p:cNvSpPr/>
          <p:nvPr/>
        </p:nvSpPr>
        <p:spPr>
          <a:xfrm>
            <a:off x="2450592" y="1051560"/>
            <a:ext cx="2011680" cy="502920"/>
          </a:xfrm>
          <a:prstGeom prst="rect">
            <a:avLst/>
          </a:prstGeom>
          <a:noFill/>
          <a:ln/>
        </p:spPr>
        <p:txBody>
          <a:bodyPr wrap="square" lIns="0" tIns="0" rIns="0" bIns="0" rtlCol="0" anchor="ctr"/>
          <a:lstStyle/>
          <a:p>
            <a:pPr algn="ctr" indent="0" marL="0">
              <a:buNone/>
            </a:pPr>
            <a:r>
              <a:rPr lang="en-US" sz="1400" b="1" dirty="0">
                <a:solidFill>
                  <a:srgbClr val="FFFFFF"/>
                </a:solidFill>
              </a:rPr>
              <a:t>Reliability</a:t>
            </a:r>
            <a:endParaRPr lang="en-US" sz="1400" dirty="0"/>
          </a:p>
        </p:txBody>
      </p:sp>
      <p:sp>
        <p:nvSpPr>
          <p:cNvPr id="17" name="Shape 15"/>
          <p:cNvSpPr/>
          <p:nvPr/>
        </p:nvSpPr>
        <p:spPr>
          <a:xfrm>
            <a:off x="2587752" y="1691640"/>
            <a:ext cx="1737360" cy="0"/>
          </a:xfrm>
          <a:prstGeom prst="line">
            <a:avLst/>
          </a:prstGeom>
          <a:noFill/>
          <a:ln w="6350">
            <a:solidFill>
              <a:srgbClr val="E2E8F0"/>
            </a:solidFill>
            <a:prstDash val="solid"/>
          </a:ln>
        </p:spPr>
      </p:sp>
      <p:sp>
        <p:nvSpPr>
          <p:cNvPr id="18" name="Text 16"/>
          <p:cNvSpPr/>
          <p:nvPr/>
        </p:nvSpPr>
        <p:spPr>
          <a:xfrm>
            <a:off x="2587752" y="1719072"/>
            <a:ext cx="1737360" cy="548640"/>
          </a:xfrm>
          <a:prstGeom prst="rect">
            <a:avLst/>
          </a:prstGeom>
          <a:noFill/>
          <a:ln/>
        </p:spPr>
        <p:txBody>
          <a:bodyPr wrap="square" rtlCol="0" anchor="t"/>
          <a:lstStyle/>
          <a:p>
            <a:pPr indent="0" marL="0">
              <a:buNone/>
            </a:pPr>
            <a:r>
              <a:rPr lang="en-US" sz="1000" dirty="0">
                <a:solidFill>
                  <a:srgbClr val="4A5568"/>
                </a:solidFill>
              </a:rPr>
              <a:t>Automation success rate</a:t>
            </a:r>
            <a:endParaRPr lang="en-US" sz="1000" dirty="0"/>
          </a:p>
        </p:txBody>
      </p:sp>
      <p:sp>
        <p:nvSpPr>
          <p:cNvPr id="19" name="Shape 17"/>
          <p:cNvSpPr/>
          <p:nvPr/>
        </p:nvSpPr>
        <p:spPr>
          <a:xfrm>
            <a:off x="2587752" y="2350008"/>
            <a:ext cx="1737360" cy="0"/>
          </a:xfrm>
          <a:prstGeom prst="line">
            <a:avLst/>
          </a:prstGeom>
          <a:noFill/>
          <a:ln w="6350">
            <a:solidFill>
              <a:srgbClr val="E2E8F0"/>
            </a:solidFill>
            <a:prstDash val="solid"/>
          </a:ln>
        </p:spPr>
      </p:sp>
      <p:sp>
        <p:nvSpPr>
          <p:cNvPr id="20" name="Text 18"/>
          <p:cNvSpPr/>
          <p:nvPr/>
        </p:nvSpPr>
        <p:spPr>
          <a:xfrm>
            <a:off x="2587752" y="2377440"/>
            <a:ext cx="1737360" cy="548640"/>
          </a:xfrm>
          <a:prstGeom prst="rect">
            <a:avLst/>
          </a:prstGeom>
          <a:noFill/>
          <a:ln/>
        </p:spPr>
        <p:txBody>
          <a:bodyPr wrap="square" rtlCol="0" anchor="t"/>
          <a:lstStyle/>
          <a:p>
            <a:pPr indent="0" marL="0">
              <a:buNone/>
            </a:pPr>
            <a:r>
              <a:rPr lang="en-US" sz="1000" dirty="0">
                <a:solidFill>
                  <a:srgbClr val="4A5568"/>
                </a:solidFill>
              </a:rPr>
              <a:t>Failure recurrence reduction</a:t>
            </a:r>
            <a:endParaRPr lang="en-US" sz="1000" dirty="0"/>
          </a:p>
        </p:txBody>
      </p:sp>
      <p:sp>
        <p:nvSpPr>
          <p:cNvPr id="21" name="Shape 19"/>
          <p:cNvSpPr/>
          <p:nvPr/>
        </p:nvSpPr>
        <p:spPr>
          <a:xfrm>
            <a:off x="2587752" y="3008376"/>
            <a:ext cx="1737360" cy="0"/>
          </a:xfrm>
          <a:prstGeom prst="line">
            <a:avLst/>
          </a:prstGeom>
          <a:noFill/>
          <a:ln w="6350">
            <a:solidFill>
              <a:srgbClr val="E2E8F0"/>
            </a:solidFill>
            <a:prstDash val="solid"/>
          </a:ln>
        </p:spPr>
      </p:sp>
      <p:sp>
        <p:nvSpPr>
          <p:cNvPr id="22" name="Text 20"/>
          <p:cNvSpPr/>
          <p:nvPr/>
        </p:nvSpPr>
        <p:spPr>
          <a:xfrm>
            <a:off x="2587752" y="3035808"/>
            <a:ext cx="1737360" cy="548640"/>
          </a:xfrm>
          <a:prstGeom prst="rect">
            <a:avLst/>
          </a:prstGeom>
          <a:noFill/>
          <a:ln/>
        </p:spPr>
        <p:txBody>
          <a:bodyPr wrap="square" rtlCol="0" anchor="t"/>
          <a:lstStyle/>
          <a:p>
            <a:pPr indent="0" marL="0">
              <a:buNone/>
            </a:pPr>
            <a:r>
              <a:rPr lang="en-US" sz="1000" dirty="0">
                <a:solidFill>
                  <a:srgbClr val="4A5568"/>
                </a:solidFill>
              </a:rPr>
              <a:t>Incident linkage trend</a:t>
            </a:r>
            <a:endParaRPr lang="en-US" sz="1000" dirty="0"/>
          </a:p>
        </p:txBody>
      </p:sp>
      <p:sp>
        <p:nvSpPr>
          <p:cNvPr id="23" name="Shape 21"/>
          <p:cNvSpPr/>
          <p:nvPr/>
        </p:nvSpPr>
        <p:spPr>
          <a:xfrm>
            <a:off x="4626864" y="1051560"/>
            <a:ext cx="2011680" cy="30175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4" name="Shape 22"/>
          <p:cNvSpPr/>
          <p:nvPr/>
        </p:nvSpPr>
        <p:spPr>
          <a:xfrm>
            <a:off x="4626864" y="1051560"/>
            <a:ext cx="2011680" cy="502920"/>
          </a:xfrm>
          <a:prstGeom prst="rect">
            <a:avLst/>
          </a:prstGeom>
          <a:solidFill>
            <a:srgbClr val="5A4FCF"/>
          </a:solidFill>
          <a:ln w="12700">
            <a:solidFill>
              <a:srgbClr val="5A4FCF"/>
            </a:solidFill>
            <a:prstDash val="solid"/>
          </a:ln>
        </p:spPr>
      </p:sp>
      <p:sp>
        <p:nvSpPr>
          <p:cNvPr id="25" name="Text 23"/>
          <p:cNvSpPr/>
          <p:nvPr/>
        </p:nvSpPr>
        <p:spPr>
          <a:xfrm>
            <a:off x="4626864" y="1051560"/>
            <a:ext cx="2011680" cy="502920"/>
          </a:xfrm>
          <a:prstGeom prst="rect">
            <a:avLst/>
          </a:prstGeom>
          <a:noFill/>
          <a:ln/>
        </p:spPr>
        <p:txBody>
          <a:bodyPr wrap="square" lIns="0" tIns="0" rIns="0" bIns="0" rtlCol="0" anchor="ctr"/>
          <a:lstStyle/>
          <a:p>
            <a:pPr algn="ctr" indent="0" marL="0">
              <a:buNone/>
            </a:pPr>
            <a:r>
              <a:rPr lang="en-US" sz="1400" b="1" dirty="0">
                <a:solidFill>
                  <a:srgbClr val="FFFFFF"/>
                </a:solidFill>
              </a:rPr>
              <a:t>Reuse</a:t>
            </a:r>
            <a:endParaRPr lang="en-US" sz="1400" dirty="0"/>
          </a:p>
        </p:txBody>
      </p:sp>
      <p:sp>
        <p:nvSpPr>
          <p:cNvPr id="26" name="Shape 24"/>
          <p:cNvSpPr/>
          <p:nvPr/>
        </p:nvSpPr>
        <p:spPr>
          <a:xfrm>
            <a:off x="4764024" y="1691640"/>
            <a:ext cx="1737360" cy="0"/>
          </a:xfrm>
          <a:prstGeom prst="line">
            <a:avLst/>
          </a:prstGeom>
          <a:noFill/>
          <a:ln w="6350">
            <a:solidFill>
              <a:srgbClr val="E2E8F0"/>
            </a:solidFill>
            <a:prstDash val="solid"/>
          </a:ln>
        </p:spPr>
      </p:sp>
      <p:sp>
        <p:nvSpPr>
          <p:cNvPr id="27" name="Text 25"/>
          <p:cNvSpPr/>
          <p:nvPr/>
        </p:nvSpPr>
        <p:spPr>
          <a:xfrm>
            <a:off x="4764024" y="1719072"/>
            <a:ext cx="1737360" cy="548640"/>
          </a:xfrm>
          <a:prstGeom prst="rect">
            <a:avLst/>
          </a:prstGeom>
          <a:noFill/>
          <a:ln/>
        </p:spPr>
        <p:txBody>
          <a:bodyPr wrap="square" rtlCol="0" anchor="t"/>
          <a:lstStyle/>
          <a:p>
            <a:pPr indent="0" marL="0">
              <a:buNone/>
            </a:pPr>
            <a:r>
              <a:rPr lang="en-US" sz="1000" dirty="0">
                <a:solidFill>
                  <a:srgbClr val="4A5568"/>
                </a:solidFill>
              </a:rPr>
              <a:t>Approved pattern usage</a:t>
            </a:r>
            <a:endParaRPr lang="en-US" sz="1000" dirty="0"/>
          </a:p>
        </p:txBody>
      </p:sp>
      <p:sp>
        <p:nvSpPr>
          <p:cNvPr id="28" name="Shape 26"/>
          <p:cNvSpPr/>
          <p:nvPr/>
        </p:nvSpPr>
        <p:spPr>
          <a:xfrm>
            <a:off x="4764024" y="2350008"/>
            <a:ext cx="1737360" cy="0"/>
          </a:xfrm>
          <a:prstGeom prst="line">
            <a:avLst/>
          </a:prstGeom>
          <a:noFill/>
          <a:ln w="6350">
            <a:solidFill>
              <a:srgbClr val="E2E8F0"/>
            </a:solidFill>
            <a:prstDash val="solid"/>
          </a:ln>
        </p:spPr>
      </p:sp>
      <p:sp>
        <p:nvSpPr>
          <p:cNvPr id="29" name="Text 27"/>
          <p:cNvSpPr/>
          <p:nvPr/>
        </p:nvSpPr>
        <p:spPr>
          <a:xfrm>
            <a:off x="4764024" y="2377440"/>
            <a:ext cx="1737360" cy="548640"/>
          </a:xfrm>
          <a:prstGeom prst="rect">
            <a:avLst/>
          </a:prstGeom>
          <a:noFill/>
          <a:ln/>
        </p:spPr>
        <p:txBody>
          <a:bodyPr wrap="square" rtlCol="0" anchor="t"/>
          <a:lstStyle/>
          <a:p>
            <a:pPr indent="0" marL="0">
              <a:buNone/>
            </a:pPr>
            <a:r>
              <a:rPr lang="en-US" sz="1000" dirty="0">
                <a:solidFill>
                  <a:srgbClr val="4A5568"/>
                </a:solidFill>
              </a:rPr>
              <a:t>Reduction in duplicated effort</a:t>
            </a:r>
            <a:endParaRPr lang="en-US" sz="1000" dirty="0"/>
          </a:p>
        </p:txBody>
      </p:sp>
      <p:sp>
        <p:nvSpPr>
          <p:cNvPr id="30" name="Shape 28"/>
          <p:cNvSpPr/>
          <p:nvPr/>
        </p:nvSpPr>
        <p:spPr>
          <a:xfrm>
            <a:off x="4764024" y="3008376"/>
            <a:ext cx="1737360" cy="0"/>
          </a:xfrm>
          <a:prstGeom prst="line">
            <a:avLst/>
          </a:prstGeom>
          <a:noFill/>
          <a:ln w="6350">
            <a:solidFill>
              <a:srgbClr val="E2E8F0"/>
            </a:solidFill>
            <a:prstDash val="solid"/>
          </a:ln>
        </p:spPr>
      </p:sp>
      <p:sp>
        <p:nvSpPr>
          <p:cNvPr id="31" name="Text 29"/>
          <p:cNvSpPr/>
          <p:nvPr/>
        </p:nvSpPr>
        <p:spPr>
          <a:xfrm>
            <a:off x="4764024" y="3035808"/>
            <a:ext cx="1737360" cy="548640"/>
          </a:xfrm>
          <a:prstGeom prst="rect">
            <a:avLst/>
          </a:prstGeom>
          <a:noFill/>
          <a:ln/>
        </p:spPr>
        <p:txBody>
          <a:bodyPr wrap="square" rtlCol="0" anchor="t"/>
          <a:lstStyle/>
          <a:p>
            <a:pPr indent="0" marL="0">
              <a:buNone/>
            </a:pPr>
            <a:r>
              <a:rPr lang="en-US" sz="1000" dirty="0">
                <a:solidFill>
                  <a:srgbClr val="4A5568"/>
                </a:solidFill>
              </a:rPr>
              <a:t>Contributions to global library</a:t>
            </a:r>
            <a:endParaRPr lang="en-US" sz="1000" dirty="0"/>
          </a:p>
        </p:txBody>
      </p:sp>
      <p:sp>
        <p:nvSpPr>
          <p:cNvPr id="32" name="Shape 30"/>
          <p:cNvSpPr/>
          <p:nvPr/>
        </p:nvSpPr>
        <p:spPr>
          <a:xfrm>
            <a:off x="6803136" y="1051560"/>
            <a:ext cx="2011680" cy="301752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33" name="Shape 31"/>
          <p:cNvSpPr/>
          <p:nvPr/>
        </p:nvSpPr>
        <p:spPr>
          <a:xfrm>
            <a:off x="6803136" y="1051560"/>
            <a:ext cx="2011680" cy="502920"/>
          </a:xfrm>
          <a:prstGeom prst="rect">
            <a:avLst/>
          </a:prstGeom>
          <a:solidFill>
            <a:srgbClr val="F0A500"/>
          </a:solidFill>
          <a:ln w="12700">
            <a:solidFill>
              <a:srgbClr val="F0A500"/>
            </a:solidFill>
            <a:prstDash val="solid"/>
          </a:ln>
        </p:spPr>
      </p:sp>
      <p:sp>
        <p:nvSpPr>
          <p:cNvPr id="34" name="Text 32"/>
          <p:cNvSpPr/>
          <p:nvPr/>
        </p:nvSpPr>
        <p:spPr>
          <a:xfrm>
            <a:off x="6803136" y="1051560"/>
            <a:ext cx="2011680" cy="502920"/>
          </a:xfrm>
          <a:prstGeom prst="rect">
            <a:avLst/>
          </a:prstGeom>
          <a:noFill/>
          <a:ln/>
        </p:spPr>
        <p:txBody>
          <a:bodyPr wrap="square" lIns="0" tIns="0" rIns="0" bIns="0" rtlCol="0" anchor="ctr"/>
          <a:lstStyle/>
          <a:p>
            <a:pPr algn="ctr" indent="0" marL="0">
              <a:buNone/>
            </a:pPr>
            <a:r>
              <a:rPr lang="en-US" sz="1400" b="1" dirty="0">
                <a:solidFill>
                  <a:srgbClr val="FFFFFF"/>
                </a:solidFill>
              </a:rPr>
              <a:t>Governance</a:t>
            </a:r>
            <a:endParaRPr lang="en-US" sz="1400" dirty="0"/>
          </a:p>
        </p:txBody>
      </p:sp>
      <p:sp>
        <p:nvSpPr>
          <p:cNvPr id="35" name="Shape 33"/>
          <p:cNvSpPr/>
          <p:nvPr/>
        </p:nvSpPr>
        <p:spPr>
          <a:xfrm>
            <a:off x="6940296" y="1691640"/>
            <a:ext cx="1737360" cy="0"/>
          </a:xfrm>
          <a:prstGeom prst="line">
            <a:avLst/>
          </a:prstGeom>
          <a:noFill/>
          <a:ln w="6350">
            <a:solidFill>
              <a:srgbClr val="E2E8F0"/>
            </a:solidFill>
            <a:prstDash val="solid"/>
          </a:ln>
        </p:spPr>
      </p:sp>
      <p:sp>
        <p:nvSpPr>
          <p:cNvPr id="36" name="Text 34"/>
          <p:cNvSpPr/>
          <p:nvPr/>
        </p:nvSpPr>
        <p:spPr>
          <a:xfrm>
            <a:off x="6940296" y="1719072"/>
            <a:ext cx="1737360" cy="548640"/>
          </a:xfrm>
          <a:prstGeom prst="rect">
            <a:avLst/>
          </a:prstGeom>
          <a:noFill/>
          <a:ln/>
        </p:spPr>
        <p:txBody>
          <a:bodyPr wrap="square" rtlCol="0" anchor="t"/>
          <a:lstStyle/>
          <a:p>
            <a:pPr indent="0" marL="0">
              <a:buNone/>
            </a:pPr>
            <a:r>
              <a:rPr lang="en-US" sz="1000" dirty="0">
                <a:solidFill>
                  <a:srgbClr val="4A5568"/>
                </a:solidFill>
              </a:rPr>
              <a:t>Exception volume &amp; resolution time</a:t>
            </a:r>
            <a:endParaRPr lang="en-US" sz="1000" dirty="0"/>
          </a:p>
        </p:txBody>
      </p:sp>
      <p:sp>
        <p:nvSpPr>
          <p:cNvPr id="37" name="Shape 35"/>
          <p:cNvSpPr/>
          <p:nvPr/>
        </p:nvSpPr>
        <p:spPr>
          <a:xfrm>
            <a:off x="6940296" y="2350008"/>
            <a:ext cx="1737360" cy="0"/>
          </a:xfrm>
          <a:prstGeom prst="line">
            <a:avLst/>
          </a:prstGeom>
          <a:noFill/>
          <a:ln w="6350">
            <a:solidFill>
              <a:srgbClr val="E2E8F0"/>
            </a:solidFill>
            <a:prstDash val="solid"/>
          </a:ln>
        </p:spPr>
      </p:sp>
      <p:sp>
        <p:nvSpPr>
          <p:cNvPr id="38" name="Text 36"/>
          <p:cNvSpPr/>
          <p:nvPr/>
        </p:nvSpPr>
        <p:spPr>
          <a:xfrm>
            <a:off x="6940296" y="2377440"/>
            <a:ext cx="1737360" cy="548640"/>
          </a:xfrm>
          <a:prstGeom prst="rect">
            <a:avLst/>
          </a:prstGeom>
          <a:noFill/>
          <a:ln/>
        </p:spPr>
        <p:txBody>
          <a:bodyPr wrap="square" rtlCol="0" anchor="t"/>
          <a:lstStyle/>
          <a:p>
            <a:pPr indent="0" marL="0">
              <a:buNone/>
            </a:pPr>
            <a:r>
              <a:rPr lang="en-US" sz="1000" dirty="0">
                <a:solidFill>
                  <a:srgbClr val="4A5568"/>
                </a:solidFill>
              </a:rPr>
              <a:t>Audit readiness signals</a:t>
            </a:r>
            <a:endParaRPr lang="en-US" sz="1000" dirty="0"/>
          </a:p>
        </p:txBody>
      </p:sp>
      <p:sp>
        <p:nvSpPr>
          <p:cNvPr id="39" name="Shape 37"/>
          <p:cNvSpPr/>
          <p:nvPr/>
        </p:nvSpPr>
        <p:spPr>
          <a:xfrm>
            <a:off x="6940296" y="3008376"/>
            <a:ext cx="1737360" cy="0"/>
          </a:xfrm>
          <a:prstGeom prst="line">
            <a:avLst/>
          </a:prstGeom>
          <a:noFill/>
          <a:ln w="6350">
            <a:solidFill>
              <a:srgbClr val="E2E8F0"/>
            </a:solidFill>
            <a:prstDash val="solid"/>
          </a:ln>
        </p:spPr>
      </p:sp>
      <p:sp>
        <p:nvSpPr>
          <p:cNvPr id="40" name="Text 38"/>
          <p:cNvSpPr/>
          <p:nvPr/>
        </p:nvSpPr>
        <p:spPr>
          <a:xfrm>
            <a:off x="6940296" y="3035808"/>
            <a:ext cx="1737360" cy="548640"/>
          </a:xfrm>
          <a:prstGeom prst="rect">
            <a:avLst/>
          </a:prstGeom>
          <a:noFill/>
          <a:ln/>
        </p:spPr>
        <p:txBody>
          <a:bodyPr wrap="square" rtlCol="0" anchor="t"/>
          <a:lstStyle/>
          <a:p>
            <a:pPr indent="0" marL="0">
              <a:buNone/>
            </a:pPr>
            <a:r>
              <a:rPr lang="en-US" sz="1000" dirty="0">
                <a:solidFill>
                  <a:srgbClr val="4A5568"/>
                </a:solidFill>
              </a:rPr>
              <a:t>High-risk automation hotspots</a:t>
            </a:r>
            <a:endParaRPr lang="en-US" sz="1000" dirty="0"/>
          </a:p>
        </p:txBody>
      </p:sp>
      <p:sp>
        <p:nvSpPr>
          <p:cNvPr id="41" name="Shape 39"/>
          <p:cNvSpPr/>
          <p:nvPr/>
        </p:nvSpPr>
        <p:spPr>
          <a:xfrm>
            <a:off x="274320" y="4206240"/>
            <a:ext cx="8595360" cy="777240"/>
          </a:xfrm>
          <a:prstGeom prst="rect">
            <a:avLst/>
          </a:prstGeom>
          <a:solidFill>
            <a:srgbClr val="1E2761"/>
          </a:solidFill>
          <a:ln w="12700">
            <a:solidFill>
              <a:srgbClr val="1E2761"/>
            </a:solidFill>
            <a:prstDash val="solid"/>
          </a:ln>
        </p:spPr>
      </p:sp>
      <p:sp>
        <p:nvSpPr>
          <p:cNvPr id="42" name="Text 40"/>
          <p:cNvSpPr/>
          <p:nvPr/>
        </p:nvSpPr>
        <p:spPr>
          <a:xfrm>
            <a:off x="457200" y="4251960"/>
            <a:ext cx="8229600" cy="685800"/>
          </a:xfrm>
          <a:prstGeom prst="rect">
            <a:avLst/>
          </a:prstGeom>
          <a:noFill/>
          <a:ln/>
        </p:spPr>
        <p:txBody>
          <a:bodyPr wrap="square" rtlCol="0" anchor="ctr"/>
          <a:lstStyle/>
          <a:p>
            <a:pPr algn="l" indent="0" marL="0">
              <a:buNone/>
            </a:pPr>
            <a:r>
              <a:rPr lang="en-US" sz="1050" b="1" dirty="0">
                <a:solidFill>
                  <a:srgbClr val="02C39A"/>
                </a:solidFill>
              </a:rPr>
              <a:t>Reporting is not for its own sake. </a:t>
            </a:r>
            <a:pPr algn="l" indent="0" marL="0">
              <a:buNone/>
            </a:pPr>
            <a:r>
              <a:rPr lang="en-US" sz="1050" dirty="0">
                <a:solidFill>
                  <a:srgbClr val="CADCFC"/>
                </a:solidFill>
              </a:rPr>
              <a:t>SLT uses this scorecard to steer priorities: where to invest enablement, where to remove barriers, and where risk requires tighter controls. Reporting is the prerequisite to enforcement—it makes expectations measurable and enables targeted intervention instead of broad mandates.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600" b="1" dirty="0">
                <a:solidFill>
                  <a:srgbClr val="FFFFFF"/>
                </a:solidFill>
              </a:rPr>
              <a:t>Roadmap: Reporting → Standards Enforcement</a:t>
            </a:r>
            <a:endParaRPr lang="en-US" sz="2600" dirty="0"/>
          </a:p>
        </p:txBody>
      </p:sp>
      <p:sp>
        <p:nvSpPr>
          <p:cNvPr id="5" name="Shape 3"/>
          <p:cNvSpPr/>
          <p:nvPr/>
        </p:nvSpPr>
        <p:spPr>
          <a:xfrm>
            <a:off x="548640" y="1920240"/>
            <a:ext cx="8046720" cy="0"/>
          </a:xfrm>
          <a:prstGeom prst="line">
            <a:avLst/>
          </a:prstGeom>
          <a:noFill/>
          <a:ln w="25400">
            <a:solidFill>
              <a:srgbClr val="028090"/>
            </a:solidFill>
            <a:prstDash val="solid"/>
          </a:ln>
        </p:spPr>
      </p:sp>
      <p:sp>
        <p:nvSpPr>
          <p:cNvPr id="6" name="Shape 4"/>
          <p:cNvSpPr/>
          <p:nvPr/>
        </p:nvSpPr>
        <p:spPr>
          <a:xfrm>
            <a:off x="548640" y="1645920"/>
            <a:ext cx="548640" cy="548640"/>
          </a:xfrm>
          <a:prstGeom prst="ellipse">
            <a:avLst/>
          </a:prstGeom>
          <a:solidFill>
            <a:srgbClr val="028090"/>
          </a:solidFill>
          <a:ln w="12700">
            <a:solidFill>
              <a:srgbClr val="028090"/>
            </a:solidFill>
            <a:prstDash val="solid"/>
          </a:ln>
        </p:spPr>
      </p:sp>
      <p:sp>
        <p:nvSpPr>
          <p:cNvPr id="7" name="Text 5"/>
          <p:cNvSpPr/>
          <p:nvPr/>
        </p:nvSpPr>
        <p:spPr>
          <a:xfrm>
            <a:off x="411480" y="1234440"/>
            <a:ext cx="822960" cy="347472"/>
          </a:xfrm>
          <a:prstGeom prst="rect">
            <a:avLst/>
          </a:prstGeom>
          <a:noFill/>
          <a:ln/>
        </p:spPr>
        <p:txBody>
          <a:bodyPr wrap="square" rtlCol="0" anchor="ctr"/>
          <a:lstStyle/>
          <a:p>
            <a:pPr algn="ctr" indent="0" marL="0">
              <a:buNone/>
            </a:pPr>
            <a:r>
              <a:rPr lang="en-US" sz="900" b="1" dirty="0">
                <a:solidFill>
                  <a:srgbClr val="028090"/>
                </a:solidFill>
              </a:rPr>
              <a:t>Q2 2025</a:t>
            </a:r>
            <a:endParaRPr lang="en-US" sz="900" dirty="0"/>
          </a:p>
        </p:txBody>
      </p:sp>
      <p:sp>
        <p:nvSpPr>
          <p:cNvPr id="8" name="Shape 6"/>
          <p:cNvSpPr/>
          <p:nvPr/>
        </p:nvSpPr>
        <p:spPr>
          <a:xfrm>
            <a:off x="457200" y="2377440"/>
            <a:ext cx="2697480" cy="26060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9" name="Shape 7"/>
          <p:cNvSpPr/>
          <p:nvPr/>
        </p:nvSpPr>
        <p:spPr>
          <a:xfrm>
            <a:off x="457200" y="2377440"/>
            <a:ext cx="2697480" cy="548640"/>
          </a:xfrm>
          <a:prstGeom prst="rect">
            <a:avLst/>
          </a:prstGeom>
          <a:solidFill>
            <a:srgbClr val="028090"/>
          </a:solidFill>
          <a:ln w="12700">
            <a:solidFill>
              <a:srgbClr val="028090"/>
            </a:solidFill>
            <a:prstDash val="solid"/>
          </a:ln>
        </p:spPr>
      </p:sp>
      <p:sp>
        <p:nvSpPr>
          <p:cNvPr id="10" name="Text 8"/>
          <p:cNvSpPr/>
          <p:nvPr/>
        </p:nvSpPr>
        <p:spPr>
          <a:xfrm>
            <a:off x="457200" y="2377440"/>
            <a:ext cx="2697480" cy="548640"/>
          </a:xfrm>
          <a:prstGeom prst="rect">
            <a:avLst/>
          </a:prstGeom>
          <a:noFill/>
          <a:ln/>
        </p:spPr>
        <p:txBody>
          <a:bodyPr wrap="square" lIns="0" tIns="0" rIns="0" bIns="0" rtlCol="0" anchor="ctr"/>
          <a:lstStyle/>
          <a:p>
            <a:pPr algn="ctr" indent="0" marL="0">
              <a:buNone/>
            </a:pPr>
            <a:r>
              <a:rPr lang="en-US" sz="1200" b="1" dirty="0">
                <a:solidFill>
                  <a:srgbClr val="FFFFFF"/>
                </a:solidFill>
              </a:rPr>
              <a:t>Phase 1</a:t>
            </a:r>
            <a:endParaRPr lang="en-US" sz="1200" dirty="0"/>
          </a:p>
          <a:p>
            <a:pPr algn="ctr" indent="0" marL="0">
              <a:buNone/>
            </a:pPr>
            <a:r>
              <a:rPr lang="en-US" sz="1200" b="1" dirty="0">
                <a:solidFill>
                  <a:srgbClr val="FFFFFF"/>
                </a:solidFill>
              </a:rPr>
              <a:t>Foundation</a:t>
            </a:r>
            <a:endParaRPr lang="en-US" sz="1200" dirty="0"/>
          </a:p>
        </p:txBody>
      </p:sp>
      <p:sp>
        <p:nvSpPr>
          <p:cNvPr id="11" name="Text 9"/>
          <p:cNvSpPr/>
          <p:nvPr/>
        </p:nvSpPr>
        <p:spPr>
          <a:xfrm>
            <a:off x="640080" y="29992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Finalize global standards (STD-01→07)</a:t>
            </a:r>
            <a:endParaRPr lang="en-US" sz="950" dirty="0"/>
          </a:p>
        </p:txBody>
      </p:sp>
      <p:sp>
        <p:nvSpPr>
          <p:cNvPr id="12" name="Text 10"/>
          <p:cNvSpPr/>
          <p:nvPr/>
        </p:nvSpPr>
        <p:spPr>
          <a:xfrm>
            <a:off x="640080" y="34564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Launch reporting scorecard</a:t>
            </a:r>
            <a:endParaRPr lang="en-US" sz="950" dirty="0"/>
          </a:p>
        </p:txBody>
      </p:sp>
      <p:sp>
        <p:nvSpPr>
          <p:cNvPr id="13" name="Text 11"/>
          <p:cNvSpPr/>
          <p:nvPr/>
        </p:nvSpPr>
        <p:spPr>
          <a:xfrm>
            <a:off x="640080" y="39136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Identify regional champions</a:t>
            </a:r>
            <a:endParaRPr lang="en-US" sz="950" dirty="0"/>
          </a:p>
        </p:txBody>
      </p:sp>
      <p:sp>
        <p:nvSpPr>
          <p:cNvPr id="14" name="Text 12"/>
          <p:cNvSpPr/>
          <p:nvPr/>
        </p:nvSpPr>
        <p:spPr>
          <a:xfrm>
            <a:off x="640080" y="43708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Launch Community of Practice forum</a:t>
            </a:r>
            <a:endParaRPr lang="en-US" sz="950" dirty="0"/>
          </a:p>
        </p:txBody>
      </p:sp>
      <p:sp>
        <p:nvSpPr>
          <p:cNvPr id="15" name="Shape 13"/>
          <p:cNvSpPr/>
          <p:nvPr/>
        </p:nvSpPr>
        <p:spPr>
          <a:xfrm>
            <a:off x="3291840" y="1645920"/>
            <a:ext cx="548640" cy="548640"/>
          </a:xfrm>
          <a:prstGeom prst="ellipse">
            <a:avLst/>
          </a:prstGeom>
          <a:solidFill>
            <a:srgbClr val="0072CE"/>
          </a:solidFill>
          <a:ln w="12700">
            <a:solidFill>
              <a:srgbClr val="0072CE"/>
            </a:solidFill>
            <a:prstDash val="solid"/>
          </a:ln>
        </p:spPr>
      </p:sp>
      <p:sp>
        <p:nvSpPr>
          <p:cNvPr id="16" name="Text 14"/>
          <p:cNvSpPr/>
          <p:nvPr/>
        </p:nvSpPr>
        <p:spPr>
          <a:xfrm>
            <a:off x="3154680" y="1234440"/>
            <a:ext cx="822960" cy="347472"/>
          </a:xfrm>
          <a:prstGeom prst="rect">
            <a:avLst/>
          </a:prstGeom>
          <a:noFill/>
          <a:ln/>
        </p:spPr>
        <p:txBody>
          <a:bodyPr wrap="square" rtlCol="0" anchor="ctr"/>
          <a:lstStyle/>
          <a:p>
            <a:pPr algn="ctr" indent="0" marL="0">
              <a:buNone/>
            </a:pPr>
            <a:r>
              <a:rPr lang="en-US" sz="900" b="1" dirty="0">
                <a:solidFill>
                  <a:srgbClr val="0072CE"/>
                </a:solidFill>
              </a:rPr>
              <a:t>Q3 2025</a:t>
            </a:r>
            <a:endParaRPr lang="en-US" sz="900" dirty="0"/>
          </a:p>
        </p:txBody>
      </p:sp>
      <p:sp>
        <p:nvSpPr>
          <p:cNvPr id="17" name="Shape 15"/>
          <p:cNvSpPr/>
          <p:nvPr/>
        </p:nvSpPr>
        <p:spPr>
          <a:xfrm>
            <a:off x="3200400" y="2377440"/>
            <a:ext cx="2697480" cy="26060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18" name="Shape 16"/>
          <p:cNvSpPr/>
          <p:nvPr/>
        </p:nvSpPr>
        <p:spPr>
          <a:xfrm>
            <a:off x="3200400" y="2377440"/>
            <a:ext cx="2697480" cy="548640"/>
          </a:xfrm>
          <a:prstGeom prst="rect">
            <a:avLst/>
          </a:prstGeom>
          <a:solidFill>
            <a:srgbClr val="0072CE"/>
          </a:solidFill>
          <a:ln w="12700">
            <a:solidFill>
              <a:srgbClr val="0072CE"/>
            </a:solidFill>
            <a:prstDash val="solid"/>
          </a:ln>
        </p:spPr>
      </p:sp>
      <p:sp>
        <p:nvSpPr>
          <p:cNvPr id="19" name="Text 17"/>
          <p:cNvSpPr/>
          <p:nvPr/>
        </p:nvSpPr>
        <p:spPr>
          <a:xfrm>
            <a:off x="3200400" y="2377440"/>
            <a:ext cx="2697480" cy="548640"/>
          </a:xfrm>
          <a:prstGeom prst="rect">
            <a:avLst/>
          </a:prstGeom>
          <a:noFill/>
          <a:ln/>
        </p:spPr>
        <p:txBody>
          <a:bodyPr wrap="square" lIns="0" tIns="0" rIns="0" bIns="0" rtlCol="0" anchor="ctr"/>
          <a:lstStyle/>
          <a:p>
            <a:pPr algn="ctr" indent="0" marL="0">
              <a:buNone/>
            </a:pPr>
            <a:r>
              <a:rPr lang="en-US" sz="1200" b="1" dirty="0">
                <a:solidFill>
                  <a:srgbClr val="FFFFFF"/>
                </a:solidFill>
              </a:rPr>
              <a:t>Phase 2</a:t>
            </a:r>
            <a:endParaRPr lang="en-US" sz="1200" dirty="0"/>
          </a:p>
          <a:p>
            <a:pPr algn="ctr" indent="0" marL="0">
              <a:buNone/>
            </a:pPr>
            <a:r>
              <a:rPr lang="en-US" sz="1200" b="1" dirty="0">
                <a:solidFill>
                  <a:srgbClr val="FFFFFF"/>
                </a:solidFill>
              </a:rPr>
              <a:t>Enablement</a:t>
            </a:r>
            <a:endParaRPr lang="en-US" sz="1200" dirty="0"/>
          </a:p>
        </p:txBody>
      </p:sp>
      <p:sp>
        <p:nvSpPr>
          <p:cNvPr id="20" name="Text 18"/>
          <p:cNvSpPr/>
          <p:nvPr/>
        </p:nvSpPr>
        <p:spPr>
          <a:xfrm>
            <a:off x="3383280" y="29992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Deploy starter kits &amp; workshops</a:t>
            </a:r>
            <a:endParaRPr lang="en-US" sz="950" dirty="0"/>
          </a:p>
        </p:txBody>
      </p:sp>
      <p:sp>
        <p:nvSpPr>
          <p:cNvPr id="21" name="Text 19"/>
          <p:cNvSpPr/>
          <p:nvPr/>
        </p:nvSpPr>
        <p:spPr>
          <a:xfrm>
            <a:off x="3383280" y="34564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Introduce standards reviews at gates</a:t>
            </a:r>
            <a:endParaRPr lang="en-US" sz="950" dirty="0"/>
          </a:p>
        </p:txBody>
      </p:sp>
      <p:sp>
        <p:nvSpPr>
          <p:cNvPr id="22" name="Text 20"/>
          <p:cNvSpPr/>
          <p:nvPr/>
        </p:nvSpPr>
        <p:spPr>
          <a:xfrm>
            <a:off x="3383280" y="39136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Formal exception process live</a:t>
            </a:r>
            <a:endParaRPr lang="en-US" sz="950" dirty="0"/>
          </a:p>
        </p:txBody>
      </p:sp>
      <p:sp>
        <p:nvSpPr>
          <p:cNvPr id="23" name="Text 21"/>
          <p:cNvSpPr/>
          <p:nvPr/>
        </p:nvSpPr>
        <p:spPr>
          <a:xfrm>
            <a:off x="3383280" y="43708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Champion-led regional sessions begin</a:t>
            </a:r>
            <a:endParaRPr lang="en-US" sz="950" dirty="0"/>
          </a:p>
        </p:txBody>
      </p:sp>
      <p:sp>
        <p:nvSpPr>
          <p:cNvPr id="24" name="Shape 22"/>
          <p:cNvSpPr/>
          <p:nvPr/>
        </p:nvSpPr>
        <p:spPr>
          <a:xfrm>
            <a:off x="6035040" y="1645920"/>
            <a:ext cx="548640" cy="548640"/>
          </a:xfrm>
          <a:prstGeom prst="ellipse">
            <a:avLst/>
          </a:prstGeom>
          <a:solidFill>
            <a:srgbClr val="F0A500"/>
          </a:solidFill>
          <a:ln w="12700">
            <a:solidFill>
              <a:srgbClr val="F0A500"/>
            </a:solidFill>
            <a:prstDash val="solid"/>
          </a:ln>
        </p:spPr>
      </p:sp>
      <p:sp>
        <p:nvSpPr>
          <p:cNvPr id="25" name="Text 23"/>
          <p:cNvSpPr/>
          <p:nvPr/>
        </p:nvSpPr>
        <p:spPr>
          <a:xfrm>
            <a:off x="5897880" y="1234440"/>
            <a:ext cx="822960" cy="347472"/>
          </a:xfrm>
          <a:prstGeom prst="rect">
            <a:avLst/>
          </a:prstGeom>
          <a:noFill/>
          <a:ln/>
        </p:spPr>
        <p:txBody>
          <a:bodyPr wrap="square" rtlCol="0" anchor="ctr"/>
          <a:lstStyle/>
          <a:p>
            <a:pPr algn="ctr" indent="0" marL="0">
              <a:buNone/>
            </a:pPr>
            <a:r>
              <a:rPr lang="en-US" sz="900" b="1" dirty="0">
                <a:solidFill>
                  <a:srgbClr val="F0A500"/>
                </a:solidFill>
              </a:rPr>
              <a:t>Q4 2025</a:t>
            </a:r>
            <a:endParaRPr lang="en-US" sz="900" dirty="0"/>
          </a:p>
        </p:txBody>
      </p:sp>
      <p:sp>
        <p:nvSpPr>
          <p:cNvPr id="26" name="Shape 24"/>
          <p:cNvSpPr/>
          <p:nvPr/>
        </p:nvSpPr>
        <p:spPr>
          <a:xfrm>
            <a:off x="5943600" y="2377440"/>
            <a:ext cx="2697480" cy="2606040"/>
          </a:xfrm>
          <a:prstGeom prst="rect">
            <a:avLst/>
          </a:prstGeom>
          <a:solidFill>
            <a:srgbClr val="FFFFFF"/>
          </a:solidFill>
          <a:ln w="12700">
            <a:solidFill>
              <a:srgbClr val="E2E8F0"/>
            </a:solidFill>
            <a:prstDash val="solid"/>
          </a:ln>
          <a:effectLst>
            <a:outerShdw sx="100000" sy="100000" kx="0" ky="0" algn="bl" rotWithShape="0" blurRad="76200" dist="25400" dir="8100000">
              <a:srgbClr val="000000">
                <a:alpha val="7000"/>
              </a:srgbClr>
            </a:outerShdw>
          </a:effectLst>
        </p:spPr>
      </p:sp>
      <p:sp>
        <p:nvSpPr>
          <p:cNvPr id="27" name="Shape 25"/>
          <p:cNvSpPr/>
          <p:nvPr/>
        </p:nvSpPr>
        <p:spPr>
          <a:xfrm>
            <a:off x="5943600" y="2377440"/>
            <a:ext cx="2697480" cy="548640"/>
          </a:xfrm>
          <a:prstGeom prst="rect">
            <a:avLst/>
          </a:prstGeom>
          <a:solidFill>
            <a:srgbClr val="F0A500"/>
          </a:solidFill>
          <a:ln w="12700">
            <a:solidFill>
              <a:srgbClr val="F0A500"/>
            </a:solidFill>
            <a:prstDash val="solid"/>
          </a:ln>
        </p:spPr>
      </p:sp>
      <p:sp>
        <p:nvSpPr>
          <p:cNvPr id="28" name="Text 26"/>
          <p:cNvSpPr/>
          <p:nvPr/>
        </p:nvSpPr>
        <p:spPr>
          <a:xfrm>
            <a:off x="5943600" y="2377440"/>
            <a:ext cx="2697480" cy="548640"/>
          </a:xfrm>
          <a:prstGeom prst="rect">
            <a:avLst/>
          </a:prstGeom>
          <a:noFill/>
          <a:ln/>
        </p:spPr>
        <p:txBody>
          <a:bodyPr wrap="square" lIns="0" tIns="0" rIns="0" bIns="0" rtlCol="0" anchor="ctr"/>
          <a:lstStyle/>
          <a:p>
            <a:pPr algn="ctr" indent="0" marL="0">
              <a:buNone/>
            </a:pPr>
            <a:r>
              <a:rPr lang="en-US" sz="1200" b="1" dirty="0">
                <a:solidFill>
                  <a:srgbClr val="FFFFFF"/>
                </a:solidFill>
              </a:rPr>
              <a:t>Phase 3</a:t>
            </a:r>
            <a:endParaRPr lang="en-US" sz="1200" dirty="0"/>
          </a:p>
          <a:p>
            <a:pPr algn="ctr" indent="0" marL="0">
              <a:buNone/>
            </a:pPr>
            <a:r>
              <a:rPr lang="en-US" sz="1200" b="1" dirty="0">
                <a:solidFill>
                  <a:srgbClr val="FFFFFF"/>
                </a:solidFill>
              </a:rPr>
              <a:t>Enforcement</a:t>
            </a:r>
            <a:endParaRPr lang="en-US" sz="1200" dirty="0"/>
          </a:p>
        </p:txBody>
      </p:sp>
      <p:sp>
        <p:nvSpPr>
          <p:cNvPr id="29" name="Text 27"/>
          <p:cNvSpPr/>
          <p:nvPr/>
        </p:nvSpPr>
        <p:spPr>
          <a:xfrm>
            <a:off x="6126480" y="29992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Expand regional adoption coverage</a:t>
            </a:r>
            <a:endParaRPr lang="en-US" sz="950" dirty="0"/>
          </a:p>
        </p:txBody>
      </p:sp>
      <p:sp>
        <p:nvSpPr>
          <p:cNvPr id="30" name="Text 28"/>
          <p:cNvSpPr/>
          <p:nvPr/>
        </p:nvSpPr>
        <p:spPr>
          <a:xfrm>
            <a:off x="6126480" y="34564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Mature &amp; tune scorecard baselines</a:t>
            </a:r>
            <a:endParaRPr lang="en-US" sz="950" dirty="0"/>
          </a:p>
        </p:txBody>
      </p:sp>
      <p:sp>
        <p:nvSpPr>
          <p:cNvPr id="31" name="Text 29"/>
          <p:cNvSpPr/>
          <p:nvPr/>
        </p:nvSpPr>
        <p:spPr>
          <a:xfrm>
            <a:off x="6126480" y="39136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Enforcement gates for high-risk automation</a:t>
            </a:r>
            <a:endParaRPr lang="en-US" sz="950" dirty="0"/>
          </a:p>
        </p:txBody>
      </p:sp>
      <p:sp>
        <p:nvSpPr>
          <p:cNvPr id="32" name="Text 30"/>
          <p:cNvSpPr/>
          <p:nvPr/>
        </p:nvSpPr>
        <p:spPr>
          <a:xfrm>
            <a:off x="6126480" y="4370832"/>
            <a:ext cx="2377440" cy="438912"/>
          </a:xfrm>
          <a:prstGeom prst="rect">
            <a:avLst/>
          </a:prstGeom>
          <a:noFill/>
          <a:ln/>
        </p:spPr>
        <p:txBody>
          <a:bodyPr wrap="square" rtlCol="0" anchor="ctr"/>
          <a:lstStyle/>
          <a:p>
            <a:pPr marL="342900" indent="-342900">
              <a:buSzPct val="100000"/>
              <a:buChar char="•"/>
            </a:pPr>
            <a:r>
              <a:rPr lang="en-US" sz="950" dirty="0">
                <a:solidFill>
                  <a:srgbClr val="4A5568"/>
                </a:solidFill>
              </a:rPr>
              <a:t>Scale reuse pattern library globally</a:t>
            </a:r>
            <a:endParaRPr lang="en-US" sz="950" dirty="0"/>
          </a:p>
        </p:txBody>
      </p:sp>
      <p:sp>
        <p:nvSpPr>
          <p:cNvPr id="33" name="Text 31"/>
          <p:cNvSpPr/>
          <p:nvPr/>
        </p:nvSpPr>
        <p:spPr>
          <a:xfrm>
            <a:off x="365760" y="4846320"/>
            <a:ext cx="8412480" cy="228600"/>
          </a:xfrm>
          <a:prstGeom prst="rect">
            <a:avLst/>
          </a:prstGeom>
          <a:noFill/>
          <a:ln/>
        </p:spPr>
        <p:txBody>
          <a:bodyPr wrap="square" rtlCol="0" anchor="ctr"/>
          <a:lstStyle/>
          <a:p>
            <a:pPr algn="ctr" indent="0" marL="0">
              <a:buNone/>
            </a:pPr>
            <a:r>
              <a:rPr lang="en-US" sz="950" i="1" dirty="0">
                <a:solidFill>
                  <a:srgbClr val="4A5568"/>
                </a:solidFill>
              </a:rPr>
              <a:t>Enforcement gates become active only after reporting is stable and enablement is broadly available — ensuring gating is fair, predictable, and targeted to risk.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sp>
        <p:nvSpPr>
          <p:cNvPr id="3" name="Shape 1"/>
          <p:cNvSpPr/>
          <p:nvPr/>
        </p:nvSpPr>
        <p:spPr>
          <a:xfrm>
            <a:off x="0" y="0"/>
            <a:ext cx="109728" cy="914400"/>
          </a:xfrm>
          <a:prstGeom prst="rect">
            <a:avLst/>
          </a:prstGeom>
          <a:solidFill>
            <a:srgbClr val="028090"/>
          </a:solidFill>
          <a:ln w="12700">
            <a:solidFill>
              <a:srgbClr val="028090"/>
            </a:solidFill>
            <a:prstDash val="solid"/>
          </a:ln>
        </p:spPr>
      </p:sp>
      <p:sp>
        <p:nvSpPr>
          <p:cNvPr id="4" name="Text 2"/>
          <p:cNvSpPr/>
          <p:nvPr/>
        </p:nvSpPr>
        <p:spPr>
          <a:xfrm>
            <a:off x="365760" y="0"/>
            <a:ext cx="8503920" cy="914400"/>
          </a:xfrm>
          <a:prstGeom prst="rect">
            <a:avLst/>
          </a:prstGeom>
          <a:noFill/>
          <a:ln/>
        </p:spPr>
        <p:txBody>
          <a:bodyPr wrap="square" rtlCol="0" anchor="ctr"/>
          <a:lstStyle/>
          <a:p>
            <a:pPr indent="0" marL="0">
              <a:buNone/>
            </a:pPr>
            <a:r>
              <a:rPr lang="en-US" sz="2600" b="1" dirty="0">
                <a:solidFill>
                  <a:srgbClr val="FFFFFF"/>
                </a:solidFill>
              </a:rPr>
              <a:t>KPIs &amp; What's In It for Leadership</a:t>
            </a:r>
            <a:endParaRPr lang="en-US" sz="2600" dirty="0"/>
          </a:p>
        </p:txBody>
      </p:sp>
      <p:sp>
        <p:nvSpPr>
          <p:cNvPr id="5" name="Shape 3"/>
          <p:cNvSpPr/>
          <p:nvPr/>
        </p:nvSpPr>
        <p:spPr>
          <a:xfrm>
            <a:off x="274320" y="1005840"/>
            <a:ext cx="2743200" cy="3886200"/>
          </a:xfrm>
          <a:prstGeom prst="rect">
            <a:avLst/>
          </a:prstGeom>
          <a:solidFill>
            <a:srgbClr val="1E2761"/>
          </a:solidFill>
          <a:ln w="12700">
            <a:solidFill>
              <a:srgbClr val="1E2761"/>
            </a:solidFill>
            <a:prstDash val="solid"/>
          </a:ln>
        </p:spPr>
      </p:sp>
      <p:sp>
        <p:nvSpPr>
          <p:cNvPr id="6" name="Text 4"/>
          <p:cNvSpPr/>
          <p:nvPr/>
        </p:nvSpPr>
        <p:spPr>
          <a:xfrm>
            <a:off x="274320" y="1051560"/>
            <a:ext cx="2743200" cy="548640"/>
          </a:xfrm>
          <a:prstGeom prst="rect">
            <a:avLst/>
          </a:prstGeom>
          <a:noFill/>
          <a:ln/>
        </p:spPr>
        <p:txBody>
          <a:bodyPr wrap="square" rtlCol="0" anchor="ctr"/>
          <a:lstStyle/>
          <a:p>
            <a:pPr algn="ctr" indent="0" marL="0">
              <a:buNone/>
            </a:pPr>
            <a:r>
              <a:rPr lang="en-US" sz="1500" b="1" dirty="0">
                <a:solidFill>
                  <a:srgbClr val="02C39A"/>
                </a:solidFill>
              </a:rPr>
              <a:t>Leadership</a:t>
            </a:r>
            <a:endParaRPr lang="en-US" sz="1500" dirty="0"/>
          </a:p>
          <a:p>
            <a:pPr algn="ctr" indent="0" marL="0">
              <a:buNone/>
            </a:pPr>
            <a:r>
              <a:rPr lang="en-US" sz="1500" b="1" dirty="0">
                <a:solidFill>
                  <a:srgbClr val="02C39A"/>
                </a:solidFill>
              </a:rPr>
              <a:t>Value</a:t>
            </a:r>
            <a:endParaRPr lang="en-US" sz="1500" dirty="0"/>
          </a:p>
        </p:txBody>
      </p:sp>
      <p:sp>
        <p:nvSpPr>
          <p:cNvPr id="7" name="Text 5"/>
          <p:cNvSpPr/>
          <p:nvPr/>
        </p:nvSpPr>
        <p:spPr>
          <a:xfrm>
            <a:off x="411480" y="1691640"/>
            <a:ext cx="2468880" cy="530352"/>
          </a:xfrm>
          <a:prstGeom prst="rect">
            <a:avLst/>
          </a:prstGeom>
          <a:noFill/>
          <a:ln/>
        </p:spPr>
        <p:txBody>
          <a:bodyPr wrap="square" rtlCol="0" anchor="ctr"/>
          <a:lstStyle/>
          <a:p>
            <a:pPr algn="l" indent="0" marL="0">
              <a:buNone/>
            </a:pPr>
            <a:r>
              <a:rPr lang="en-US" sz="1050" dirty="0">
                <a:solidFill>
                  <a:srgbClr val="CADCFC"/>
                </a:solidFill>
              </a:rPr>
              <a:t>⬇  Fewer incidents from automation failures</a:t>
            </a:r>
            <a:endParaRPr lang="en-US" sz="1050" dirty="0"/>
          </a:p>
        </p:txBody>
      </p:sp>
      <p:sp>
        <p:nvSpPr>
          <p:cNvPr id="8" name="Text 6"/>
          <p:cNvSpPr/>
          <p:nvPr/>
        </p:nvSpPr>
        <p:spPr>
          <a:xfrm>
            <a:off x="411480" y="2313432"/>
            <a:ext cx="2468880" cy="530352"/>
          </a:xfrm>
          <a:prstGeom prst="rect">
            <a:avLst/>
          </a:prstGeom>
          <a:noFill/>
          <a:ln/>
        </p:spPr>
        <p:txBody>
          <a:bodyPr wrap="square" rtlCol="0" anchor="ctr"/>
          <a:lstStyle/>
          <a:p>
            <a:pPr algn="l" indent="0" marL="0">
              <a:buNone/>
            </a:pPr>
            <a:r>
              <a:rPr lang="en-US" sz="1050" dirty="0">
                <a:solidFill>
                  <a:srgbClr val="CADCFC"/>
                </a:solidFill>
              </a:rPr>
              <a:t>📈  More predictable delivery across regions</a:t>
            </a:r>
            <a:endParaRPr lang="en-US" sz="1050" dirty="0"/>
          </a:p>
        </p:txBody>
      </p:sp>
      <p:sp>
        <p:nvSpPr>
          <p:cNvPr id="9" name="Text 7"/>
          <p:cNvSpPr/>
          <p:nvPr/>
        </p:nvSpPr>
        <p:spPr>
          <a:xfrm>
            <a:off x="411480" y="2935224"/>
            <a:ext cx="2468880" cy="530352"/>
          </a:xfrm>
          <a:prstGeom prst="rect">
            <a:avLst/>
          </a:prstGeom>
          <a:noFill/>
          <a:ln/>
        </p:spPr>
        <p:txBody>
          <a:bodyPr wrap="square" rtlCol="0" anchor="ctr"/>
          <a:lstStyle/>
          <a:p>
            <a:pPr algn="l" indent="0" marL="0">
              <a:buNone/>
            </a:pPr>
            <a:r>
              <a:rPr lang="en-US" sz="1050" dirty="0">
                <a:solidFill>
                  <a:srgbClr val="CADCFC"/>
                </a:solidFill>
              </a:rPr>
              <a:t>♻  Scalable reuse — less duplicated effort</a:t>
            </a:r>
            <a:endParaRPr lang="en-US" sz="1050" dirty="0"/>
          </a:p>
        </p:txBody>
      </p:sp>
      <p:sp>
        <p:nvSpPr>
          <p:cNvPr id="10" name="Text 8"/>
          <p:cNvSpPr/>
          <p:nvPr/>
        </p:nvSpPr>
        <p:spPr>
          <a:xfrm>
            <a:off x="411480" y="3557016"/>
            <a:ext cx="2468880" cy="530352"/>
          </a:xfrm>
          <a:prstGeom prst="rect">
            <a:avLst/>
          </a:prstGeom>
          <a:noFill/>
          <a:ln/>
        </p:spPr>
        <p:txBody>
          <a:bodyPr wrap="square" rtlCol="0" anchor="ctr"/>
          <a:lstStyle/>
          <a:p>
            <a:pPr algn="l" indent="0" marL="0">
              <a:buNone/>
            </a:pPr>
            <a:r>
              <a:rPr lang="en-US" sz="1050" dirty="0">
                <a:solidFill>
                  <a:srgbClr val="CADCFC"/>
                </a:solidFill>
              </a:rPr>
              <a:t>🔍  Full visibility via consistent scorecard</a:t>
            </a:r>
            <a:endParaRPr lang="en-US" sz="1050" dirty="0"/>
          </a:p>
        </p:txBody>
      </p:sp>
      <p:sp>
        <p:nvSpPr>
          <p:cNvPr id="11" name="Text 9"/>
          <p:cNvSpPr/>
          <p:nvPr/>
        </p:nvSpPr>
        <p:spPr>
          <a:xfrm>
            <a:off x="411480" y="4178808"/>
            <a:ext cx="2468880" cy="530352"/>
          </a:xfrm>
          <a:prstGeom prst="rect">
            <a:avLst/>
          </a:prstGeom>
          <a:noFill/>
          <a:ln/>
        </p:spPr>
        <p:txBody>
          <a:bodyPr wrap="square" rtlCol="0" anchor="ctr"/>
          <a:lstStyle/>
          <a:p>
            <a:pPr algn="l" indent="0" marL="0">
              <a:buNone/>
            </a:pPr>
            <a:r>
              <a:rPr lang="en-US" sz="1050" dirty="0">
                <a:solidFill>
                  <a:srgbClr val="CADCFC"/>
                </a:solidFill>
              </a:rPr>
              <a:t>✅  Audit readiness &amp; governance confidence</a:t>
            </a:r>
            <a:endParaRPr lang="en-US" sz="1050" dirty="0"/>
          </a:p>
        </p:txBody>
      </p:sp>
      <p:sp>
        <p:nvSpPr>
          <p:cNvPr id="12" name="Text 10"/>
          <p:cNvSpPr/>
          <p:nvPr/>
        </p:nvSpPr>
        <p:spPr>
          <a:xfrm>
            <a:off x="3246120" y="1005840"/>
            <a:ext cx="5577840" cy="347472"/>
          </a:xfrm>
          <a:prstGeom prst="rect">
            <a:avLst/>
          </a:prstGeom>
          <a:noFill/>
          <a:ln/>
        </p:spPr>
        <p:txBody>
          <a:bodyPr wrap="square" rtlCol="0" anchor="ctr"/>
          <a:lstStyle/>
          <a:p>
            <a:pPr indent="0" marL="0">
              <a:buNone/>
            </a:pPr>
            <a:r>
              <a:rPr lang="en-US" sz="1300" b="1" dirty="0">
                <a:solidFill>
                  <a:srgbClr val="1E2761"/>
                </a:solidFill>
              </a:rPr>
              <a:t>Proposed KPI Framework</a:t>
            </a:r>
            <a:endParaRPr lang="en-US" sz="1300" dirty="0"/>
          </a:p>
        </p:txBody>
      </p:sp>
      <p:sp>
        <p:nvSpPr>
          <p:cNvPr id="13" name="Shape 11"/>
          <p:cNvSpPr/>
          <p:nvPr/>
        </p:nvSpPr>
        <p:spPr>
          <a:xfrm>
            <a:off x="3246120" y="1417320"/>
            <a:ext cx="1188720" cy="566928"/>
          </a:xfrm>
          <a:prstGeom prst="rect">
            <a:avLst/>
          </a:prstGeom>
          <a:solidFill>
            <a:srgbClr val="028090"/>
          </a:solidFill>
          <a:ln w="12700">
            <a:solidFill>
              <a:srgbClr val="028090"/>
            </a:solidFill>
            <a:prstDash val="solid"/>
          </a:ln>
        </p:spPr>
      </p:sp>
      <p:sp>
        <p:nvSpPr>
          <p:cNvPr id="14" name="Text 12"/>
          <p:cNvSpPr/>
          <p:nvPr/>
        </p:nvSpPr>
        <p:spPr>
          <a:xfrm>
            <a:off x="3246120" y="1417320"/>
            <a:ext cx="1188720" cy="566928"/>
          </a:xfrm>
          <a:prstGeom prst="rect">
            <a:avLst/>
          </a:prstGeom>
          <a:noFill/>
          <a:ln/>
        </p:spPr>
        <p:txBody>
          <a:bodyPr wrap="square" lIns="0" tIns="0" rIns="0" bIns="0" rtlCol="0" anchor="ctr"/>
          <a:lstStyle/>
          <a:p>
            <a:pPr algn="ctr" indent="0" marL="0">
              <a:buNone/>
            </a:pPr>
            <a:r>
              <a:rPr lang="en-US" sz="1000" b="1" dirty="0">
                <a:solidFill>
                  <a:srgbClr val="FFFFFF"/>
                </a:solidFill>
              </a:rPr>
              <a:t>Adoption</a:t>
            </a:r>
            <a:endParaRPr lang="en-US" sz="1000" dirty="0"/>
          </a:p>
        </p:txBody>
      </p:sp>
      <p:sp>
        <p:nvSpPr>
          <p:cNvPr id="15" name="Shape 13"/>
          <p:cNvSpPr/>
          <p:nvPr/>
        </p:nvSpPr>
        <p:spPr>
          <a:xfrm>
            <a:off x="4480560" y="1417320"/>
            <a:ext cx="4343400" cy="566928"/>
          </a:xfrm>
          <a:prstGeom prst="rect">
            <a:avLst/>
          </a:prstGeom>
          <a:solidFill>
            <a:srgbClr val="F4F7FC"/>
          </a:solidFill>
          <a:ln w="6350">
            <a:solidFill>
              <a:srgbClr val="E2E8F0"/>
            </a:solidFill>
            <a:prstDash val="solid"/>
          </a:ln>
        </p:spPr>
      </p:sp>
      <p:sp>
        <p:nvSpPr>
          <p:cNvPr id="16" name="Text 14"/>
          <p:cNvSpPr/>
          <p:nvPr/>
        </p:nvSpPr>
        <p:spPr>
          <a:xfrm>
            <a:off x="4572000" y="1417320"/>
            <a:ext cx="4160520" cy="566928"/>
          </a:xfrm>
          <a:prstGeom prst="rect">
            <a:avLst/>
          </a:prstGeom>
          <a:noFill/>
          <a:ln/>
        </p:spPr>
        <p:txBody>
          <a:bodyPr wrap="square" rtlCol="0" anchor="ctr"/>
          <a:lstStyle/>
          <a:p>
            <a:pPr indent="0" marL="0">
              <a:buNone/>
            </a:pPr>
            <a:r>
              <a:rPr lang="en-US" sz="1000" dirty="0">
                <a:solidFill>
                  <a:srgbClr val="4A5568"/>
                </a:solidFill>
              </a:rPr>
              <a:t>Teams onboarded; active pipeline count using standards</a:t>
            </a:r>
            <a:endParaRPr lang="en-US" sz="1000" dirty="0"/>
          </a:p>
        </p:txBody>
      </p:sp>
      <p:sp>
        <p:nvSpPr>
          <p:cNvPr id="17" name="Shape 15"/>
          <p:cNvSpPr/>
          <p:nvPr/>
        </p:nvSpPr>
        <p:spPr>
          <a:xfrm>
            <a:off x="3246120" y="2075688"/>
            <a:ext cx="1188720" cy="566928"/>
          </a:xfrm>
          <a:prstGeom prst="rect">
            <a:avLst/>
          </a:prstGeom>
          <a:solidFill>
            <a:srgbClr val="028090"/>
          </a:solidFill>
          <a:ln w="12700">
            <a:solidFill>
              <a:srgbClr val="028090"/>
            </a:solidFill>
            <a:prstDash val="solid"/>
          </a:ln>
        </p:spPr>
      </p:sp>
      <p:sp>
        <p:nvSpPr>
          <p:cNvPr id="18" name="Text 16"/>
          <p:cNvSpPr/>
          <p:nvPr/>
        </p:nvSpPr>
        <p:spPr>
          <a:xfrm>
            <a:off x="3246120" y="2075688"/>
            <a:ext cx="1188720" cy="566928"/>
          </a:xfrm>
          <a:prstGeom prst="rect">
            <a:avLst/>
          </a:prstGeom>
          <a:noFill/>
          <a:ln/>
        </p:spPr>
        <p:txBody>
          <a:bodyPr wrap="square" lIns="0" tIns="0" rIns="0" bIns="0" rtlCol="0" anchor="ctr"/>
          <a:lstStyle/>
          <a:p>
            <a:pPr algn="ctr" indent="0" marL="0">
              <a:buNone/>
            </a:pPr>
            <a:r>
              <a:rPr lang="en-US" sz="1000" b="1" dirty="0">
                <a:solidFill>
                  <a:srgbClr val="FFFFFF"/>
                </a:solidFill>
              </a:rPr>
              <a:t>Reliability</a:t>
            </a:r>
            <a:endParaRPr lang="en-US" sz="1000" dirty="0"/>
          </a:p>
        </p:txBody>
      </p:sp>
      <p:sp>
        <p:nvSpPr>
          <p:cNvPr id="19" name="Shape 17"/>
          <p:cNvSpPr/>
          <p:nvPr/>
        </p:nvSpPr>
        <p:spPr>
          <a:xfrm>
            <a:off x="4480560" y="2075688"/>
            <a:ext cx="4343400" cy="566928"/>
          </a:xfrm>
          <a:prstGeom prst="rect">
            <a:avLst/>
          </a:prstGeom>
          <a:solidFill>
            <a:srgbClr val="FFFFFF"/>
          </a:solidFill>
          <a:ln w="6350">
            <a:solidFill>
              <a:srgbClr val="E2E8F0"/>
            </a:solidFill>
            <a:prstDash val="solid"/>
          </a:ln>
        </p:spPr>
      </p:sp>
      <p:sp>
        <p:nvSpPr>
          <p:cNvPr id="20" name="Text 18"/>
          <p:cNvSpPr/>
          <p:nvPr/>
        </p:nvSpPr>
        <p:spPr>
          <a:xfrm>
            <a:off x="4572000" y="2075688"/>
            <a:ext cx="4160520" cy="566928"/>
          </a:xfrm>
          <a:prstGeom prst="rect">
            <a:avLst/>
          </a:prstGeom>
          <a:noFill/>
          <a:ln/>
        </p:spPr>
        <p:txBody>
          <a:bodyPr wrap="square" rtlCol="0" anchor="ctr"/>
          <a:lstStyle/>
          <a:p>
            <a:pPr indent="0" marL="0">
              <a:buNone/>
            </a:pPr>
            <a:r>
              <a:rPr lang="en-US" sz="1000" dirty="0">
                <a:solidFill>
                  <a:srgbClr val="4A5568"/>
                </a:solidFill>
              </a:rPr>
              <a:t>Automation success rate; failure recurrence reduction; incident trend</a:t>
            </a:r>
            <a:endParaRPr lang="en-US" sz="1000" dirty="0"/>
          </a:p>
        </p:txBody>
      </p:sp>
      <p:sp>
        <p:nvSpPr>
          <p:cNvPr id="21" name="Shape 19"/>
          <p:cNvSpPr/>
          <p:nvPr/>
        </p:nvSpPr>
        <p:spPr>
          <a:xfrm>
            <a:off x="3246120" y="2734056"/>
            <a:ext cx="1188720" cy="566928"/>
          </a:xfrm>
          <a:prstGeom prst="rect">
            <a:avLst/>
          </a:prstGeom>
          <a:solidFill>
            <a:srgbClr val="028090"/>
          </a:solidFill>
          <a:ln w="12700">
            <a:solidFill>
              <a:srgbClr val="028090"/>
            </a:solidFill>
            <a:prstDash val="solid"/>
          </a:ln>
        </p:spPr>
      </p:sp>
      <p:sp>
        <p:nvSpPr>
          <p:cNvPr id="22" name="Text 20"/>
          <p:cNvSpPr/>
          <p:nvPr/>
        </p:nvSpPr>
        <p:spPr>
          <a:xfrm>
            <a:off x="3246120" y="2734056"/>
            <a:ext cx="1188720" cy="566928"/>
          </a:xfrm>
          <a:prstGeom prst="rect">
            <a:avLst/>
          </a:prstGeom>
          <a:noFill/>
          <a:ln/>
        </p:spPr>
        <p:txBody>
          <a:bodyPr wrap="square" lIns="0" tIns="0" rIns="0" bIns="0" rtlCol="0" anchor="ctr"/>
          <a:lstStyle/>
          <a:p>
            <a:pPr algn="ctr" indent="0" marL="0">
              <a:buNone/>
            </a:pPr>
            <a:r>
              <a:rPr lang="en-US" sz="1000" b="1" dirty="0">
                <a:solidFill>
                  <a:srgbClr val="FFFFFF"/>
                </a:solidFill>
              </a:rPr>
              <a:t>Reuse</a:t>
            </a:r>
            <a:endParaRPr lang="en-US" sz="1000" dirty="0"/>
          </a:p>
        </p:txBody>
      </p:sp>
      <p:sp>
        <p:nvSpPr>
          <p:cNvPr id="23" name="Shape 21"/>
          <p:cNvSpPr/>
          <p:nvPr/>
        </p:nvSpPr>
        <p:spPr>
          <a:xfrm>
            <a:off x="4480560" y="2734056"/>
            <a:ext cx="4343400" cy="566928"/>
          </a:xfrm>
          <a:prstGeom prst="rect">
            <a:avLst/>
          </a:prstGeom>
          <a:solidFill>
            <a:srgbClr val="F4F7FC"/>
          </a:solidFill>
          <a:ln w="6350">
            <a:solidFill>
              <a:srgbClr val="E2E8F0"/>
            </a:solidFill>
            <a:prstDash val="solid"/>
          </a:ln>
        </p:spPr>
      </p:sp>
      <p:sp>
        <p:nvSpPr>
          <p:cNvPr id="24" name="Text 22"/>
          <p:cNvSpPr/>
          <p:nvPr/>
        </p:nvSpPr>
        <p:spPr>
          <a:xfrm>
            <a:off x="4572000" y="2734056"/>
            <a:ext cx="4160520" cy="566928"/>
          </a:xfrm>
          <a:prstGeom prst="rect">
            <a:avLst/>
          </a:prstGeom>
          <a:noFill/>
          <a:ln/>
        </p:spPr>
        <p:txBody>
          <a:bodyPr wrap="square" rtlCol="0" anchor="ctr"/>
          <a:lstStyle/>
          <a:p>
            <a:pPr indent="0" marL="0">
              <a:buNone/>
            </a:pPr>
            <a:r>
              <a:rPr lang="en-US" sz="1000" dirty="0">
                <a:solidFill>
                  <a:srgbClr val="4A5568"/>
                </a:solidFill>
              </a:rPr>
              <a:t>Approved pattern usage %; reduction in duplicated automation effort</a:t>
            </a:r>
            <a:endParaRPr lang="en-US" sz="1000" dirty="0"/>
          </a:p>
        </p:txBody>
      </p:sp>
      <p:sp>
        <p:nvSpPr>
          <p:cNvPr id="25" name="Shape 23"/>
          <p:cNvSpPr/>
          <p:nvPr/>
        </p:nvSpPr>
        <p:spPr>
          <a:xfrm>
            <a:off x="3246120" y="3392424"/>
            <a:ext cx="1188720" cy="566928"/>
          </a:xfrm>
          <a:prstGeom prst="rect">
            <a:avLst/>
          </a:prstGeom>
          <a:solidFill>
            <a:srgbClr val="028090"/>
          </a:solidFill>
          <a:ln w="12700">
            <a:solidFill>
              <a:srgbClr val="028090"/>
            </a:solidFill>
            <a:prstDash val="solid"/>
          </a:ln>
        </p:spPr>
      </p:sp>
      <p:sp>
        <p:nvSpPr>
          <p:cNvPr id="26" name="Text 24"/>
          <p:cNvSpPr/>
          <p:nvPr/>
        </p:nvSpPr>
        <p:spPr>
          <a:xfrm>
            <a:off x="3246120" y="3392424"/>
            <a:ext cx="1188720" cy="566928"/>
          </a:xfrm>
          <a:prstGeom prst="rect">
            <a:avLst/>
          </a:prstGeom>
          <a:noFill/>
          <a:ln/>
        </p:spPr>
        <p:txBody>
          <a:bodyPr wrap="square" lIns="0" tIns="0" rIns="0" bIns="0" rtlCol="0" anchor="ctr"/>
          <a:lstStyle/>
          <a:p>
            <a:pPr algn="ctr" indent="0" marL="0">
              <a:buNone/>
            </a:pPr>
            <a:r>
              <a:rPr lang="en-US" sz="1000" b="1" dirty="0">
                <a:solidFill>
                  <a:srgbClr val="FFFFFF"/>
                </a:solidFill>
              </a:rPr>
              <a:t>Governance</a:t>
            </a:r>
            <a:endParaRPr lang="en-US" sz="1000" dirty="0"/>
          </a:p>
        </p:txBody>
      </p:sp>
      <p:sp>
        <p:nvSpPr>
          <p:cNvPr id="27" name="Shape 25"/>
          <p:cNvSpPr/>
          <p:nvPr/>
        </p:nvSpPr>
        <p:spPr>
          <a:xfrm>
            <a:off x="4480560" y="3392424"/>
            <a:ext cx="4343400" cy="566928"/>
          </a:xfrm>
          <a:prstGeom prst="rect">
            <a:avLst/>
          </a:prstGeom>
          <a:solidFill>
            <a:srgbClr val="FFFFFF"/>
          </a:solidFill>
          <a:ln w="6350">
            <a:solidFill>
              <a:srgbClr val="E2E8F0"/>
            </a:solidFill>
            <a:prstDash val="solid"/>
          </a:ln>
        </p:spPr>
      </p:sp>
      <p:sp>
        <p:nvSpPr>
          <p:cNvPr id="28" name="Text 26"/>
          <p:cNvSpPr/>
          <p:nvPr/>
        </p:nvSpPr>
        <p:spPr>
          <a:xfrm>
            <a:off x="4572000" y="3392424"/>
            <a:ext cx="4160520" cy="566928"/>
          </a:xfrm>
          <a:prstGeom prst="rect">
            <a:avLst/>
          </a:prstGeom>
          <a:noFill/>
          <a:ln/>
        </p:spPr>
        <p:txBody>
          <a:bodyPr wrap="square" rtlCol="0" anchor="ctr"/>
          <a:lstStyle/>
          <a:p>
            <a:pPr indent="0" marL="0">
              <a:buNone/>
            </a:pPr>
            <a:r>
              <a:rPr lang="en-US" sz="1000" dirty="0">
                <a:solidFill>
                  <a:srgbClr val="4A5568"/>
                </a:solidFill>
              </a:rPr>
              <a:t>Exception volume &amp; avg. time-to-resolution; audit readiness signals</a:t>
            </a:r>
            <a:endParaRPr lang="en-US" sz="1000" dirty="0"/>
          </a:p>
        </p:txBody>
      </p:sp>
      <p:sp>
        <p:nvSpPr>
          <p:cNvPr id="29" name="Shape 27"/>
          <p:cNvSpPr/>
          <p:nvPr/>
        </p:nvSpPr>
        <p:spPr>
          <a:xfrm>
            <a:off x="3246120" y="4050792"/>
            <a:ext cx="1188720" cy="566928"/>
          </a:xfrm>
          <a:prstGeom prst="rect">
            <a:avLst/>
          </a:prstGeom>
          <a:solidFill>
            <a:srgbClr val="028090"/>
          </a:solidFill>
          <a:ln w="12700">
            <a:solidFill>
              <a:srgbClr val="028090"/>
            </a:solidFill>
            <a:prstDash val="solid"/>
          </a:ln>
        </p:spPr>
      </p:sp>
      <p:sp>
        <p:nvSpPr>
          <p:cNvPr id="30" name="Text 28"/>
          <p:cNvSpPr/>
          <p:nvPr/>
        </p:nvSpPr>
        <p:spPr>
          <a:xfrm>
            <a:off x="3246120" y="4050792"/>
            <a:ext cx="1188720" cy="566928"/>
          </a:xfrm>
          <a:prstGeom prst="rect">
            <a:avLst/>
          </a:prstGeom>
          <a:noFill/>
          <a:ln/>
        </p:spPr>
        <p:txBody>
          <a:bodyPr wrap="square" lIns="0" tIns="0" rIns="0" bIns="0" rtlCol="0" anchor="ctr"/>
          <a:lstStyle/>
          <a:p>
            <a:pPr algn="ctr" indent="0" marL="0">
              <a:buNone/>
            </a:pPr>
            <a:r>
              <a:rPr lang="en-US" sz="1000" b="1" dirty="0">
                <a:solidFill>
                  <a:srgbClr val="FFFFFF"/>
                </a:solidFill>
              </a:rPr>
              <a:t>Value</a:t>
            </a:r>
            <a:endParaRPr lang="en-US" sz="1000" dirty="0"/>
          </a:p>
        </p:txBody>
      </p:sp>
      <p:sp>
        <p:nvSpPr>
          <p:cNvPr id="31" name="Shape 29"/>
          <p:cNvSpPr/>
          <p:nvPr/>
        </p:nvSpPr>
        <p:spPr>
          <a:xfrm>
            <a:off x="4480560" y="4050792"/>
            <a:ext cx="4343400" cy="566928"/>
          </a:xfrm>
          <a:prstGeom prst="rect">
            <a:avLst/>
          </a:prstGeom>
          <a:solidFill>
            <a:srgbClr val="F4F7FC"/>
          </a:solidFill>
          <a:ln w="6350">
            <a:solidFill>
              <a:srgbClr val="E2E8F0"/>
            </a:solidFill>
            <a:prstDash val="solid"/>
          </a:ln>
        </p:spPr>
      </p:sp>
      <p:sp>
        <p:nvSpPr>
          <p:cNvPr id="32" name="Text 30"/>
          <p:cNvSpPr/>
          <p:nvPr/>
        </p:nvSpPr>
        <p:spPr>
          <a:xfrm>
            <a:off x="4572000" y="4050792"/>
            <a:ext cx="4160520" cy="566928"/>
          </a:xfrm>
          <a:prstGeom prst="rect">
            <a:avLst/>
          </a:prstGeom>
          <a:noFill/>
          <a:ln/>
        </p:spPr>
        <p:txBody>
          <a:bodyPr wrap="square" rtlCol="0" anchor="ctr"/>
          <a:lstStyle/>
          <a:p>
            <a:pPr indent="0" marL="0">
              <a:buNone/>
            </a:pPr>
            <a:r>
              <a:rPr lang="en-US" sz="1000" dirty="0">
                <a:solidFill>
                  <a:srgbClr val="4A5568"/>
                </a:solidFill>
              </a:rPr>
              <a:t>Hours saved or cycle time reduced (where credibly measurable)</a:t>
            </a:r>
            <a:endParaRPr lang="en-US" sz="1000" dirty="0"/>
          </a:p>
        </p:txBody>
      </p:sp>
      <p:sp>
        <p:nvSpPr>
          <p:cNvPr id="33" name="Text 31"/>
          <p:cNvSpPr/>
          <p:nvPr/>
        </p:nvSpPr>
        <p:spPr>
          <a:xfrm>
            <a:off x="3246120" y="4773168"/>
            <a:ext cx="5577840" cy="256032"/>
          </a:xfrm>
          <a:prstGeom prst="rect">
            <a:avLst/>
          </a:prstGeom>
          <a:noFill/>
          <a:ln/>
        </p:spPr>
        <p:txBody>
          <a:bodyPr wrap="square" rtlCol="0" anchor="ctr"/>
          <a:lstStyle/>
          <a:p>
            <a:pPr indent="0" marL="0">
              <a:buNone/>
            </a:pPr>
            <a:r>
              <a:rPr lang="en-US" sz="900" i="1" dirty="0">
                <a:solidFill>
                  <a:srgbClr val="4A5568"/>
                </a:solidFill>
              </a:rPr>
              <a:t>Goal: Directional visibility to steer investment, reduce risk, and demonstrate quarter-over-quarter progress — not perfect accounting.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A4A"/>
        </a:solidFill>
      </p:bgPr>
    </p:bg>
    <p:spTree>
      <p:nvGrpSpPr>
        <p:cNvPr id="1" name=""/>
        <p:cNvGrpSpPr/>
        <p:nvPr/>
      </p:nvGrpSpPr>
      <p:grpSpPr>
        <a:xfrm>
          <a:off x="0" y="0"/>
          <a:ext cx="0" cy="0"/>
          <a:chOff x="0" y="0"/>
          <a:chExt cx="0" cy="0"/>
        </a:xfrm>
      </p:grpSpPr>
      <p:sp>
        <p:nvSpPr>
          <p:cNvPr id="2" name="Shape 0"/>
          <p:cNvSpPr/>
          <p:nvPr/>
        </p:nvSpPr>
        <p:spPr>
          <a:xfrm>
            <a:off x="-457200" y="2743200"/>
            <a:ext cx="4114800" cy="4114800"/>
          </a:xfrm>
          <a:prstGeom prst="ellipse">
            <a:avLst/>
          </a:prstGeom>
          <a:solidFill>
            <a:srgbClr val="1E2761">
              <a:alpha val="70000"/>
            </a:srgbClr>
          </a:solidFill>
          <a:ln w="12700">
            <a:solidFill>
              <a:srgbClr val="028090">
                <a:alpha val="50000"/>
              </a:srgbClr>
            </a:solidFill>
            <a:prstDash val="solid"/>
          </a:ln>
        </p:spPr>
      </p:sp>
      <p:sp>
        <p:nvSpPr>
          <p:cNvPr id="3" name="Shape 1"/>
          <p:cNvSpPr/>
          <p:nvPr/>
        </p:nvSpPr>
        <p:spPr>
          <a:xfrm>
            <a:off x="6858000" y="-731520"/>
            <a:ext cx="3200400" cy="3200400"/>
          </a:xfrm>
          <a:prstGeom prst="ellipse">
            <a:avLst/>
          </a:prstGeom>
          <a:solidFill>
            <a:srgbClr val="028090">
              <a:alpha val="25000"/>
            </a:srgbClr>
          </a:solidFill>
          <a:ln w="12700">
            <a:solidFill>
              <a:srgbClr val="028090"/>
            </a:solidFill>
            <a:prstDash val="solid"/>
          </a:ln>
        </p:spPr>
      </p:sp>
      <p:sp>
        <p:nvSpPr>
          <p:cNvPr id="4" name="Shape 2"/>
          <p:cNvSpPr/>
          <p:nvPr/>
        </p:nvSpPr>
        <p:spPr>
          <a:xfrm>
            <a:off x="0" y="0"/>
            <a:ext cx="109728" cy="5143500"/>
          </a:xfrm>
          <a:prstGeom prst="rect">
            <a:avLst/>
          </a:prstGeom>
          <a:solidFill>
            <a:srgbClr val="028090"/>
          </a:solidFill>
          <a:ln w="12700">
            <a:solidFill>
              <a:srgbClr val="028090"/>
            </a:solidFill>
            <a:prstDash val="solid"/>
          </a:ln>
        </p:spPr>
      </p:sp>
      <p:sp>
        <p:nvSpPr>
          <p:cNvPr id="5" name="Text 3"/>
          <p:cNvSpPr/>
          <p:nvPr/>
        </p:nvSpPr>
        <p:spPr>
          <a:xfrm>
            <a:off x="457200" y="320040"/>
            <a:ext cx="822960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Alignment &amp; Next Steps</a:t>
            </a:r>
            <a:endParaRPr lang="en-US" sz="3200" dirty="0"/>
          </a:p>
        </p:txBody>
      </p:sp>
      <p:sp>
        <p:nvSpPr>
          <p:cNvPr id="6" name="Shape 4"/>
          <p:cNvSpPr/>
          <p:nvPr/>
        </p:nvSpPr>
        <p:spPr>
          <a:xfrm>
            <a:off x="457200" y="1097280"/>
            <a:ext cx="2606040" cy="2377440"/>
          </a:xfrm>
          <a:prstGeom prst="rect">
            <a:avLst/>
          </a:prstGeom>
          <a:solidFill>
            <a:srgbClr val="1E2761"/>
          </a:solidFill>
          <a:ln w="12700">
            <a:solidFill>
              <a:srgbClr val="028090"/>
            </a:solidFill>
            <a:prstDash val="solid"/>
          </a:ln>
        </p:spPr>
      </p:sp>
      <p:sp>
        <p:nvSpPr>
          <p:cNvPr id="7" name="Shape 5"/>
          <p:cNvSpPr/>
          <p:nvPr/>
        </p:nvSpPr>
        <p:spPr>
          <a:xfrm>
            <a:off x="1463040" y="1188720"/>
            <a:ext cx="594360" cy="594360"/>
          </a:xfrm>
          <a:prstGeom prst="ellipse">
            <a:avLst/>
          </a:prstGeom>
          <a:solidFill>
            <a:srgbClr val="028090"/>
          </a:solidFill>
          <a:ln w="12700">
            <a:solidFill>
              <a:srgbClr val="028090"/>
            </a:solidFill>
            <a:prstDash val="solid"/>
          </a:ln>
        </p:spPr>
      </p:sp>
      <p:sp>
        <p:nvSpPr>
          <p:cNvPr id="8" name="Text 6"/>
          <p:cNvSpPr/>
          <p:nvPr/>
        </p:nvSpPr>
        <p:spPr>
          <a:xfrm>
            <a:off x="1463040" y="1188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p:nvPr/>
        </p:nvSpPr>
        <p:spPr>
          <a:xfrm>
            <a:off x="566928" y="1901952"/>
            <a:ext cx="2377440" cy="411480"/>
          </a:xfrm>
          <a:prstGeom prst="rect">
            <a:avLst/>
          </a:prstGeom>
          <a:noFill/>
          <a:ln/>
        </p:spPr>
        <p:txBody>
          <a:bodyPr wrap="square" rtlCol="0" anchor="ctr"/>
          <a:lstStyle/>
          <a:p>
            <a:pPr algn="ctr" indent="0" marL="0">
              <a:buNone/>
            </a:pPr>
            <a:r>
              <a:rPr lang="en-US" sz="1100" b="1" dirty="0">
                <a:solidFill>
                  <a:srgbClr val="02C39A"/>
                </a:solidFill>
              </a:rPr>
              <a:t>Standards as Guardrails</a:t>
            </a:r>
            <a:endParaRPr lang="en-US" sz="1100" dirty="0"/>
          </a:p>
        </p:txBody>
      </p:sp>
      <p:sp>
        <p:nvSpPr>
          <p:cNvPr id="10" name="Text 8"/>
          <p:cNvSpPr/>
          <p:nvPr/>
        </p:nvSpPr>
        <p:spPr>
          <a:xfrm>
            <a:off x="566928" y="2350008"/>
            <a:ext cx="2377440" cy="1005840"/>
          </a:xfrm>
          <a:prstGeom prst="rect">
            <a:avLst/>
          </a:prstGeom>
          <a:noFill/>
          <a:ln/>
        </p:spPr>
        <p:txBody>
          <a:bodyPr wrap="square" rtlCol="0" anchor="ctr"/>
          <a:lstStyle/>
          <a:p>
            <a:pPr algn="ctr" indent="0" marL="0">
              <a:buNone/>
            </a:pPr>
            <a:r>
              <a:rPr lang="en-US" sz="1000" dirty="0">
                <a:solidFill>
                  <a:srgbClr val="CADCFC"/>
                </a:solidFill>
              </a:rPr>
              <a:t>Outcome-based global standards with regional flexibility—the foundation for enterprise-quality automation.</a:t>
            </a:r>
            <a:endParaRPr lang="en-US" sz="1000" dirty="0"/>
          </a:p>
        </p:txBody>
      </p:sp>
      <p:sp>
        <p:nvSpPr>
          <p:cNvPr id="11" name="Shape 9"/>
          <p:cNvSpPr/>
          <p:nvPr/>
        </p:nvSpPr>
        <p:spPr>
          <a:xfrm>
            <a:off x="3291840" y="1097280"/>
            <a:ext cx="2606040" cy="2377440"/>
          </a:xfrm>
          <a:prstGeom prst="rect">
            <a:avLst/>
          </a:prstGeom>
          <a:solidFill>
            <a:srgbClr val="1E2761"/>
          </a:solidFill>
          <a:ln w="12700">
            <a:solidFill>
              <a:srgbClr val="028090"/>
            </a:solidFill>
            <a:prstDash val="solid"/>
          </a:ln>
        </p:spPr>
      </p:sp>
      <p:sp>
        <p:nvSpPr>
          <p:cNvPr id="12" name="Shape 10"/>
          <p:cNvSpPr/>
          <p:nvPr/>
        </p:nvSpPr>
        <p:spPr>
          <a:xfrm>
            <a:off x="4297680" y="1188720"/>
            <a:ext cx="594360" cy="594360"/>
          </a:xfrm>
          <a:prstGeom prst="ellipse">
            <a:avLst/>
          </a:prstGeom>
          <a:solidFill>
            <a:srgbClr val="028090"/>
          </a:solidFill>
          <a:ln w="12700">
            <a:solidFill>
              <a:srgbClr val="028090"/>
            </a:solidFill>
            <a:prstDash val="solid"/>
          </a:ln>
        </p:spPr>
      </p:sp>
      <p:sp>
        <p:nvSpPr>
          <p:cNvPr id="13" name="Text 11"/>
          <p:cNvSpPr/>
          <p:nvPr/>
        </p:nvSpPr>
        <p:spPr>
          <a:xfrm>
            <a:off x="4297680" y="1188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2"/>
          <p:cNvSpPr/>
          <p:nvPr/>
        </p:nvSpPr>
        <p:spPr>
          <a:xfrm>
            <a:off x="3401568" y="1901952"/>
            <a:ext cx="2377440" cy="411480"/>
          </a:xfrm>
          <a:prstGeom prst="rect">
            <a:avLst/>
          </a:prstGeom>
          <a:noFill/>
          <a:ln/>
        </p:spPr>
        <p:txBody>
          <a:bodyPr wrap="square" rtlCol="0" anchor="ctr"/>
          <a:lstStyle/>
          <a:p>
            <a:pPr algn="ctr" indent="0" marL="0">
              <a:buNone/>
            </a:pPr>
            <a:r>
              <a:rPr lang="en-US" sz="1100" b="1" dirty="0">
                <a:solidFill>
                  <a:srgbClr val="02C39A"/>
                </a:solidFill>
              </a:rPr>
              <a:t>Enablement as Engine</a:t>
            </a:r>
            <a:endParaRPr lang="en-US" sz="1100" dirty="0"/>
          </a:p>
        </p:txBody>
      </p:sp>
      <p:sp>
        <p:nvSpPr>
          <p:cNvPr id="15" name="Text 13"/>
          <p:cNvSpPr/>
          <p:nvPr/>
        </p:nvSpPr>
        <p:spPr>
          <a:xfrm>
            <a:off x="3401568" y="2350008"/>
            <a:ext cx="2377440" cy="1005840"/>
          </a:xfrm>
          <a:prstGeom prst="rect">
            <a:avLst/>
          </a:prstGeom>
          <a:noFill/>
          <a:ln/>
        </p:spPr>
        <p:txBody>
          <a:bodyPr wrap="square" rtlCol="0" anchor="ctr"/>
          <a:lstStyle/>
          <a:p>
            <a:pPr algn="ctr" indent="0" marL="0">
              <a:buNone/>
            </a:pPr>
            <a:r>
              <a:rPr lang="en-US" sz="1000" dirty="0">
                <a:solidFill>
                  <a:srgbClr val="CADCFC"/>
                </a:solidFill>
              </a:rPr>
              <a:t>Starter kits, workshops, and champion support drive adoption. Regions contribute back to strengthen the global library.</a:t>
            </a:r>
            <a:endParaRPr lang="en-US" sz="1000" dirty="0"/>
          </a:p>
        </p:txBody>
      </p:sp>
      <p:sp>
        <p:nvSpPr>
          <p:cNvPr id="16" name="Shape 14"/>
          <p:cNvSpPr/>
          <p:nvPr/>
        </p:nvSpPr>
        <p:spPr>
          <a:xfrm>
            <a:off x="6126480" y="1097280"/>
            <a:ext cx="2606040" cy="2377440"/>
          </a:xfrm>
          <a:prstGeom prst="rect">
            <a:avLst/>
          </a:prstGeom>
          <a:solidFill>
            <a:srgbClr val="1E2761"/>
          </a:solidFill>
          <a:ln w="12700">
            <a:solidFill>
              <a:srgbClr val="028090"/>
            </a:solidFill>
            <a:prstDash val="solid"/>
          </a:ln>
        </p:spPr>
      </p:sp>
      <p:sp>
        <p:nvSpPr>
          <p:cNvPr id="17" name="Shape 15"/>
          <p:cNvSpPr/>
          <p:nvPr/>
        </p:nvSpPr>
        <p:spPr>
          <a:xfrm>
            <a:off x="7132320" y="1188720"/>
            <a:ext cx="594360" cy="594360"/>
          </a:xfrm>
          <a:prstGeom prst="ellipse">
            <a:avLst/>
          </a:prstGeom>
          <a:solidFill>
            <a:srgbClr val="028090"/>
          </a:solidFill>
          <a:ln w="12700">
            <a:solidFill>
              <a:srgbClr val="028090"/>
            </a:solidFill>
            <a:prstDash val="solid"/>
          </a:ln>
        </p:spPr>
      </p:sp>
      <p:sp>
        <p:nvSpPr>
          <p:cNvPr id="18" name="Text 16"/>
          <p:cNvSpPr/>
          <p:nvPr/>
        </p:nvSpPr>
        <p:spPr>
          <a:xfrm>
            <a:off x="7132320" y="118872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p:nvPr/>
        </p:nvSpPr>
        <p:spPr>
          <a:xfrm>
            <a:off x="6236208" y="1901952"/>
            <a:ext cx="2377440" cy="411480"/>
          </a:xfrm>
          <a:prstGeom prst="rect">
            <a:avLst/>
          </a:prstGeom>
          <a:noFill/>
          <a:ln/>
        </p:spPr>
        <p:txBody>
          <a:bodyPr wrap="square" rtlCol="0" anchor="ctr"/>
          <a:lstStyle/>
          <a:p>
            <a:pPr algn="ctr" indent="0" marL="0">
              <a:buNone/>
            </a:pPr>
            <a:r>
              <a:rPr lang="en-US" sz="1100" b="1" dirty="0">
                <a:solidFill>
                  <a:srgbClr val="02C39A"/>
                </a:solidFill>
              </a:rPr>
              <a:t>Phased Reporting → Enforcement</a:t>
            </a:r>
            <a:endParaRPr lang="en-US" sz="1100" dirty="0"/>
          </a:p>
        </p:txBody>
      </p:sp>
      <p:sp>
        <p:nvSpPr>
          <p:cNvPr id="20" name="Text 18"/>
          <p:cNvSpPr/>
          <p:nvPr/>
        </p:nvSpPr>
        <p:spPr>
          <a:xfrm>
            <a:off x="6236208" y="2350008"/>
            <a:ext cx="2377440" cy="1005840"/>
          </a:xfrm>
          <a:prstGeom prst="rect">
            <a:avLst/>
          </a:prstGeom>
          <a:noFill/>
          <a:ln/>
        </p:spPr>
        <p:txBody>
          <a:bodyPr wrap="square" rtlCol="0" anchor="ctr"/>
          <a:lstStyle/>
          <a:p>
            <a:pPr algn="ctr" indent="0" marL="0">
              <a:buNone/>
            </a:pPr>
            <a:r>
              <a:rPr lang="en-US" sz="1000" dirty="0">
                <a:solidFill>
                  <a:srgbClr val="CADCFC"/>
                </a:solidFill>
              </a:rPr>
              <a:t>Baseline reporting first. Enforcement gates only when measurement is stable and enablement is broadly available.</a:t>
            </a:r>
            <a:endParaRPr lang="en-US" sz="1000" dirty="0"/>
          </a:p>
        </p:txBody>
      </p:sp>
      <p:sp>
        <p:nvSpPr>
          <p:cNvPr id="21" name="Text 19"/>
          <p:cNvSpPr/>
          <p:nvPr/>
        </p:nvSpPr>
        <p:spPr>
          <a:xfrm>
            <a:off x="457200" y="3611880"/>
            <a:ext cx="8229600" cy="320040"/>
          </a:xfrm>
          <a:prstGeom prst="rect">
            <a:avLst/>
          </a:prstGeom>
          <a:noFill/>
          <a:ln/>
        </p:spPr>
        <p:txBody>
          <a:bodyPr wrap="square" rtlCol="0" anchor="ctr"/>
          <a:lstStyle/>
          <a:p>
            <a:pPr algn="ctr" indent="0" marL="0">
              <a:buNone/>
            </a:pPr>
            <a:r>
              <a:rPr lang="en-US" sz="1000" b="1" spc="200" kern="0" dirty="0">
                <a:solidFill>
                  <a:srgbClr val="028090"/>
                </a:solidFill>
              </a:rPr>
              <a:t>WHERE SLT CAN HELP</a:t>
            </a:r>
            <a:endParaRPr lang="en-US" sz="1000" dirty="0"/>
          </a:p>
        </p:txBody>
      </p:sp>
      <p:sp>
        <p:nvSpPr>
          <p:cNvPr id="22" name="Text 20"/>
          <p:cNvSpPr/>
          <p:nvPr/>
        </p:nvSpPr>
        <p:spPr>
          <a:xfrm>
            <a:off x="457200" y="3950208"/>
            <a:ext cx="8229600" cy="365760"/>
          </a:xfrm>
          <a:prstGeom prst="rect">
            <a:avLst/>
          </a:prstGeom>
          <a:noFill/>
          <a:ln/>
        </p:spPr>
        <p:txBody>
          <a:bodyPr wrap="square" rtlCol="0" anchor="ctr"/>
          <a:lstStyle/>
          <a:p>
            <a:pPr algn="ctr" indent="0" marL="0">
              <a:buNone/>
            </a:pPr>
            <a:r>
              <a:rPr lang="en-US" sz="1050" dirty="0">
                <a:solidFill>
                  <a:srgbClr val="CADCFC"/>
                </a:solidFill>
              </a:rPr>
              <a:t>◆  Remove adoption barriers in-region     ◆  Support champion capacity &amp; time allocation     ◆  Reinforce this as an enterprise capability—not a regional project</a:t>
            </a:r>
            <a:endParaRPr lang="en-US" sz="1050" dirty="0"/>
          </a:p>
        </p:txBody>
      </p:sp>
      <p:sp>
        <p:nvSpPr>
          <p:cNvPr id="23" name="Shape 21"/>
          <p:cNvSpPr/>
          <p:nvPr/>
        </p:nvSpPr>
        <p:spPr>
          <a:xfrm>
            <a:off x="1828800" y="4480560"/>
            <a:ext cx="5486400" cy="0"/>
          </a:xfrm>
          <a:prstGeom prst="line">
            <a:avLst/>
          </a:prstGeom>
          <a:noFill/>
          <a:ln w="9525">
            <a:solidFill>
              <a:srgbClr val="028090">
                <a:alpha val="60000"/>
              </a:srgbClr>
            </a:solidFill>
            <a:prstDash val="solid"/>
          </a:ln>
        </p:spPr>
      </p:sp>
      <p:sp>
        <p:nvSpPr>
          <p:cNvPr id="24" name="Text 22"/>
          <p:cNvSpPr/>
          <p:nvPr/>
        </p:nvSpPr>
        <p:spPr>
          <a:xfrm>
            <a:off x="457200" y="4617720"/>
            <a:ext cx="8229600" cy="347472"/>
          </a:xfrm>
          <a:prstGeom prst="rect">
            <a:avLst/>
          </a:prstGeom>
          <a:noFill/>
          <a:ln/>
        </p:spPr>
        <p:txBody>
          <a:bodyPr wrap="square" rtlCol="0" anchor="ctr"/>
          <a:lstStyle/>
          <a:p>
            <a:pPr algn="ctr" indent="0" marL="0">
              <a:buNone/>
            </a:pPr>
            <a:r>
              <a:rPr lang="en-US" sz="1000" i="1" dirty="0">
                <a:solidFill>
                  <a:srgbClr val="CADCFC"/>
                </a:solidFill>
              </a:rPr>
              <a:t>Next update: scorecard-driven, showing adoption progress, risk reduction, and readiness for enforcement gates.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Automation: Standards, Enablement &amp; Roadmap</dc:title>
  <dc:subject>PptxGenJS Presentation</dc:subject>
  <dc:creator>PptxGenJS</dc:creator>
  <cp:lastModifiedBy>PptxGenJS</cp:lastModifiedBy>
  <cp:revision>1</cp:revision>
  <dcterms:created xsi:type="dcterms:W3CDTF">2026-05-01T15:49:41Z</dcterms:created>
  <dcterms:modified xsi:type="dcterms:W3CDTF">2026-05-01T15:49:41Z</dcterms:modified>
</cp:coreProperties>
</file>